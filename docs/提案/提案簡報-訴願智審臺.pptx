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326880" y="-1645920"/>
            <a:ext cx="5120640" cy="5120640"/>
          </a:xfrm>
          <a:prstGeom prst="ellipse">
            <a:avLst/>
          </a:prstGeom>
          <a:solidFill>
            <a:srgbClr val="1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188720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F2B544"/>
                </a:solidFill>
                <a:latin typeface="Microsoft JhengHei"/>
              </a:rPr>
              <a:t>2026 新北市 AI 智慧城市黑客松 ｜ 法制局組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600200"/>
            <a:ext cx="1051560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6600" b="1">
                <a:solidFill>
                  <a:srgbClr val="FFFFFF"/>
                </a:solidFill>
                <a:latin typeface="Microsoft JhengHei"/>
              </a:rPr>
              <a:t>訴願智審臺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880360"/>
            <a:ext cx="105156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100" b="0">
                <a:solidFill>
                  <a:srgbClr val="C9D6E6"/>
                </a:solidFill>
                <a:latin typeface="Microsoft JhengHei"/>
              </a:rPr>
              <a:t>承辦人的 AI 審卷夥伴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3566160"/>
            <a:ext cx="45720" cy="685800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3520439"/>
            <a:ext cx="914400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>
                <a:solidFill>
                  <a:srgbClr val="E6EDF5"/>
                </a:solidFill>
                <a:latin typeface="Microsoft JhengHei"/>
              </a:rPr>
              <a:t>比對交給 AI，證據留給眼睛，判斷留給承辦人。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44068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>
                <a:solidFill>
                  <a:srgbClr val="E6EDF5"/>
                </a:solidFill>
                <a:latin typeface="Microsoft JhengHei"/>
              </a:rPr>
              <a:t>WISXXXX 親友見面會　｜　Kevin ／ Roy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94360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>
                <a:solidFill>
                  <a:srgbClr val="9FB0C8"/>
                </a:solidFill>
                <a:latin typeface="Microsoft JhengHei"/>
              </a:rPr>
              <a:t>Live Demo　http://100.20.156.38/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73152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7315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01 ／ 破題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四個前提，缺一不可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2 / 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508760"/>
            <a:ext cx="5394960" cy="214884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19" y="2194560"/>
            <a:ext cx="777240" cy="77724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600" b="1">
                <a:solidFill>
                  <a:srgbClr val="FFFFFF"/>
                </a:solidFill>
                <a:latin typeface="Microsoft JhengHe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65960" y="1874519"/>
            <a:ext cx="3931920" cy="1417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600" b="1">
                <a:solidFill>
                  <a:srgbClr val="16304F"/>
                </a:solidFill>
                <a:latin typeface="Microsoft JhengHei"/>
              </a:rPr>
              <a:t>減少查找，專注判斷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508760"/>
            <a:ext cx="5394960" cy="214884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92240" y="2194560"/>
            <a:ext cx="777240" cy="77724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600" b="1">
                <a:solidFill>
                  <a:srgbClr val="FFFFFF"/>
                </a:solidFill>
                <a:latin typeface="Microsoft JhengHe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79" y="1874519"/>
            <a:ext cx="3931920" cy="1417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600" b="1">
                <a:solidFill>
                  <a:srgbClr val="16304F"/>
                </a:solidFill>
                <a:latin typeface="Microsoft JhengHei"/>
              </a:rPr>
              <a:t>每一步透明，每一步可修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840479"/>
            <a:ext cx="5394960" cy="214884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19" y="4526279"/>
            <a:ext cx="777240" cy="77724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600" b="1">
                <a:solidFill>
                  <a:srgbClr val="FFFFFF"/>
                </a:solidFill>
                <a:latin typeface="Microsoft JhengHe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65960" y="4206240"/>
            <a:ext cx="3931920" cy="1417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600" b="1">
                <a:solidFill>
                  <a:srgbClr val="16304F"/>
                </a:solidFill>
                <a:latin typeface="Microsoft JhengHei"/>
              </a:rPr>
              <a:t>修正可提、可查、可追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3840479"/>
            <a:ext cx="5394960" cy="214884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92240" y="4526279"/>
            <a:ext cx="777240" cy="77724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600" b="1">
                <a:solidFill>
                  <a:srgbClr val="FFFFFF"/>
                </a:solidFill>
                <a:latin typeface="Microsoft JhengHe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79" y="4206240"/>
            <a:ext cx="3931920" cy="1417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600" b="1">
                <a:solidFill>
                  <a:srgbClr val="16304F"/>
                </a:solidFill>
                <a:latin typeface="Microsoft JhengHei"/>
              </a:rPr>
              <a:t>數據飛輪：案件庫／法規庫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73152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7315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02 ／ 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承辦人只做五件事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3 / 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1600200"/>
            <a:ext cx="1097280" cy="1097280"/>
          </a:xfrm>
          <a:prstGeom prst="roundRect">
            <a:avLst>
              <a:gd name="adj" fmla="val 25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17319" y="1874519"/>
            <a:ext cx="548640" cy="54864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834640"/>
            <a:ext cx="2103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16304F"/>
                </a:solidFill>
                <a:latin typeface="Microsoft JhengHei"/>
              </a:rPr>
              <a:t>上傳卷宗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337560"/>
            <a:ext cx="21031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>
                <a:solidFill>
                  <a:srgbClr val="5B6573"/>
                </a:solidFill>
                <a:latin typeface="Microsoft JhengHei"/>
              </a:rPr>
              <a:t>訴願書、答辯書、卷證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55848" y="1600200"/>
            <a:ext cx="1097280" cy="1097280"/>
          </a:xfrm>
          <a:prstGeom prst="roundRect">
            <a:avLst>
              <a:gd name="adj" fmla="val 25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30168" y="1874519"/>
            <a:ext cx="548640" cy="54864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52928" y="2834640"/>
            <a:ext cx="2103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16304F"/>
                </a:solidFill>
                <a:latin typeface="Microsoft JhengHei"/>
              </a:rPr>
              <a:t>自動分類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52928" y="3337560"/>
            <a:ext cx="21031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>
                <a:solidFill>
                  <a:srgbClr val="5B6573"/>
                </a:solidFill>
                <a:latin typeface="Microsoft JhengHei"/>
              </a:rPr>
              <a:t>27 類・自動命名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568696" y="1600200"/>
            <a:ext cx="1097280" cy="1097280"/>
          </a:xfrm>
          <a:prstGeom prst="roundRect">
            <a:avLst>
              <a:gd name="adj" fmla="val 25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843016" y="1874519"/>
            <a:ext cx="548640" cy="54864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65776" y="2834640"/>
            <a:ext cx="2103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16304F"/>
                </a:solidFill>
                <a:latin typeface="Microsoft JhengHei"/>
              </a:rPr>
              <a:t>看分析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65776" y="3337560"/>
            <a:ext cx="21031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>
                <a:solidFill>
                  <a:srgbClr val="5B6573"/>
                </a:solidFill>
                <a:latin typeface="Microsoft JhengHei"/>
              </a:rPr>
              <a:t>基本資料・爭點・法規・相似案例・草稿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81544" y="1600200"/>
            <a:ext cx="1097280" cy="1097280"/>
          </a:xfrm>
          <a:prstGeom prst="roundRect">
            <a:avLst>
              <a:gd name="adj" fmla="val 25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55864" y="1874519"/>
            <a:ext cx="548640" cy="54864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78624" y="2834640"/>
            <a:ext cx="2103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16304F"/>
                </a:solidFill>
                <a:latin typeface="Microsoft JhengHei"/>
              </a:rPr>
              <a:t>提出修正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78624" y="3337560"/>
            <a:ext cx="21031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>
                <a:solidFill>
                  <a:srgbClr val="5B6573"/>
                </a:solidFill>
                <a:latin typeface="Microsoft JhengHei"/>
              </a:rPr>
              <a:t>「爭點 2 改採信訴願人」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994392" y="1600200"/>
            <a:ext cx="1097280" cy="1097280"/>
          </a:xfrm>
          <a:prstGeom prst="roundRect">
            <a:avLst>
              <a:gd name="adj" fmla="val 25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268711" y="1874519"/>
            <a:ext cx="548640" cy="54864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91472" y="2834640"/>
            <a:ext cx="2103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16304F"/>
                </a:solidFill>
                <a:latin typeface="Microsoft JhengHei"/>
              </a:rPr>
              <a:t>確認送審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91472" y="3337560"/>
            <a:ext cx="21031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>
                <a:solidFill>
                  <a:srgbClr val="5B6573"/>
                </a:solidFill>
                <a:latin typeface="Microsoft JhengHei"/>
              </a:rPr>
              <a:t>草稿 v1／v2 可回溯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5623560"/>
            <a:ext cx="10908792" cy="566928"/>
          </a:xfrm>
          <a:prstGeom prst="rect">
            <a:avLst/>
          </a:prstGeom>
          <a:solidFill>
            <a:srgbClr val="FFF8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40080" y="5623560"/>
            <a:ext cx="64008" cy="566928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5641848"/>
            <a:ext cx="106070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0">
                <a:solidFill>
                  <a:srgbClr val="334455"/>
                </a:solidFill>
                <a:latin typeface="Microsoft JhengHei"/>
              </a:rPr>
              <a:t>示範案例：亂丟煙蒂案（廢清法）。20 頁卷宗加一段影片，90 秒分好類，2 分鐘出分析。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73152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7315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03 ／ 順手做到的事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卷宗照原樣丟進來就好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4 / 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508760"/>
            <a:ext cx="4754880" cy="29718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691640"/>
            <a:ext cx="438912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5B6573"/>
                </a:solidFill>
                <a:latin typeface="Microsoft JhengHei"/>
              </a:rPr>
              <a:t>IMG_3985.jpg
scan_0001.pdf
文件(2).pdf
DASHCAM_0627.mp4
掃描全卷.pdf（20 頁）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2651760"/>
            <a:ext cx="11887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4000" b="1">
                <a:solidFill>
                  <a:srgbClr val="D98E04"/>
                </a:solidFill>
                <a:latin typeface="Microsoft JhengHe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1508760"/>
            <a:ext cx="4754880" cy="2971800"/>
          </a:xfrm>
          <a:prstGeom prst="roundRect">
            <a:avLst>
              <a:gd name="adj" fmla="val 8000"/>
            </a:avLst>
          </a:prstGeom>
          <a:solidFill>
            <a:srgbClr val="FFF8EA"/>
          </a:solidFill>
          <a:ln w="19050">
            <a:solidFill>
              <a:srgbClr val="D98E0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95160" y="1691640"/>
            <a:ext cx="438912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0F2038"/>
                </a:solidFill>
                <a:latin typeface="Microsoft JhengHei"/>
              </a:rPr>
              <a:t>01- 訴願書_114-09-22
07- 裁處書_114-09-16
11- 送達證書_114-09-18
14- 採證照片 ×3
19- 採證影片 00:12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709160"/>
            <a:ext cx="2606040" cy="82296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727448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16304F"/>
                </a:solidFill>
                <a:latin typeface="Microsoft JhengHei"/>
              </a:rPr>
              <a:t>27 類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138928"/>
            <a:ext cx="23774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5B6573"/>
                </a:solidFill>
                <a:latin typeface="Microsoft JhengHei"/>
              </a:rPr>
              <a:t>文件類型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83280" y="4709160"/>
            <a:ext cx="2606040" cy="82296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0440" y="4727448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16304F"/>
                </a:solidFill>
                <a:latin typeface="Microsoft JhengHei"/>
              </a:rPr>
              <a:t>20 / 20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0440" y="5138928"/>
            <a:ext cx="23774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5B6573"/>
                </a:solidFill>
                <a:latin typeface="Microsoft JhengHei"/>
              </a:rPr>
              <a:t>20 份亂檔名，20 份分對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26480" y="4709160"/>
            <a:ext cx="2606040" cy="82296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63640" y="4727448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16304F"/>
                </a:solidFill>
                <a:latin typeface="Microsoft JhengHei"/>
              </a:rPr>
              <a:t>90 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3640" y="5138928"/>
            <a:ext cx="23774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5B6573"/>
                </a:solidFill>
                <a:latin typeface="Microsoft JhengHei"/>
              </a:rPr>
              <a:t>20 份含影片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5669280"/>
            <a:ext cx="10908792" cy="566928"/>
          </a:xfrm>
          <a:prstGeom prst="rect">
            <a:avLst/>
          </a:prstGeom>
          <a:solidFill>
            <a:srgbClr val="FFF8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5669280"/>
            <a:ext cx="64008" cy="566928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687568"/>
            <a:ext cx="106070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0">
                <a:solidFill>
                  <a:srgbClr val="334455"/>
                </a:solidFill>
                <a:latin typeface="Microsoft JhengHei"/>
              </a:rPr>
              <a:t>不用改檔名、不用轉格式；分錯了點一下就改，改動有紀錄。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73152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7315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04 ／ 每一步透明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固定七個步驟，哪一步錯就修哪一步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5 / 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554480"/>
            <a:ext cx="1481328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554480"/>
            <a:ext cx="1481328" cy="12344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500" b="1">
                <a:solidFill>
                  <a:srgbClr val="16304F"/>
                </a:solidFill>
                <a:latin typeface="Microsoft JhengHei"/>
              </a:rPr>
              <a:t>讀出基本資料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03704" y="1554480"/>
            <a:ext cx="1481328" cy="1234440"/>
          </a:xfrm>
          <a:prstGeom prst="roundRect">
            <a:avLst>
              <a:gd name="adj" fmla="val 8000"/>
            </a:avLst>
          </a:prstGeom>
          <a:solidFill>
            <a:srgbClr val="F2F8F3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03704" y="1554480"/>
            <a:ext cx="1481328" cy="12344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500" b="1">
                <a:solidFill>
                  <a:srgbClr val="16304F"/>
                </a:solidFill>
                <a:latin typeface="Microsoft JhengHei"/>
              </a:rPr>
              <a:t>期間・程序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67328" y="1554480"/>
            <a:ext cx="1481328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67328" y="1554480"/>
            <a:ext cx="1481328" cy="12344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500" b="1">
                <a:solidFill>
                  <a:srgbClr val="16304F"/>
                </a:solidFill>
                <a:latin typeface="Microsoft JhengHei"/>
              </a:rPr>
              <a:t>整理爭點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30952" y="1554480"/>
            <a:ext cx="1481328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30952" y="1554480"/>
            <a:ext cx="1481328" cy="12344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500" b="1">
                <a:solidFill>
                  <a:srgbClr val="16304F"/>
                </a:solidFill>
                <a:latin typeface="Microsoft JhengHei"/>
              </a:rPr>
              <a:t>找法規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94576" y="1554480"/>
            <a:ext cx="1481328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94576" y="1554480"/>
            <a:ext cx="1481328" cy="12344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500" b="1">
                <a:solidFill>
                  <a:srgbClr val="16304F"/>
                </a:solidFill>
                <a:latin typeface="Microsoft JhengHei"/>
              </a:rPr>
              <a:t>找相似案例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58200" y="1554480"/>
            <a:ext cx="1481328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58200" y="1554480"/>
            <a:ext cx="1481328" cy="12344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500" b="1">
                <a:solidFill>
                  <a:srgbClr val="16304F"/>
                </a:solidFill>
                <a:latin typeface="Microsoft JhengHei"/>
              </a:rPr>
              <a:t>寫草稿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021824" y="1554480"/>
            <a:ext cx="1481328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21824" y="1554480"/>
            <a:ext cx="1481328" cy="12344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500" b="1">
                <a:solidFill>
                  <a:srgbClr val="16304F"/>
                </a:solidFill>
                <a:latin typeface="Microsoft JhengHei"/>
              </a:rPr>
              <a:t>承辦人修正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3200400"/>
            <a:ext cx="2103120" cy="14630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9600" b="1">
                <a:solidFill>
                  <a:srgbClr val="16304F"/>
                </a:solidFill>
                <a:latin typeface="Microsoft JhengHei"/>
              </a:rPr>
              <a:t>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43200" y="3977639"/>
            <a:ext cx="25603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0">
                <a:solidFill>
                  <a:srgbClr val="5B6573"/>
                </a:solidFill>
                <a:latin typeface="Microsoft JhengHei"/>
              </a:rPr>
              <a:t>次 AI・約 2 分鐘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0" y="3291840"/>
            <a:ext cx="603504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0">
                <a:solidFill>
                  <a:srgbClr val="334455"/>
                </a:solidFill>
                <a:latin typeface="Microsoft JhengHei"/>
              </a:rPr>
              <a:t>步驟固定，結果留底。錯在哪一步，就修那一步；每個結論都指得出卷證和條號。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0" y="4297680"/>
            <a:ext cx="60350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>
                <a:solidFill>
                  <a:srgbClr val="2E7D32"/>
                </a:solidFill>
                <a:latin typeface="Microsoft JhengHei"/>
              </a:rPr>
              <a:t>期間怎麼算、該不該受理，是法條說了算，不是 AI 猜——這一步交給程式。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73152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7315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05 ／ AWS 架構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一台 EC2，三個 AWS 服務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6 / 11</a:t>
            </a:r>
          </a:p>
        </p:txBody>
      </p:sp>
      <p:pic>
        <p:nvPicPr>
          <p:cNvPr id="9" name="Picture 8" descr="aws-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417320"/>
            <a:ext cx="10424160" cy="489482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863840" y="384048"/>
            <a:ext cx="3657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100" b="0">
                <a:solidFill>
                  <a:srgbClr val="8A93A0"/>
                </a:solidFill>
                <a:latin typeface="Microsoft JhengHei"/>
              </a:rPr>
              <a:t>全部在競賽允許清單內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73152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7315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06 ／ 可信度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AI 會犯的四種錯，四道關卡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7 / 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554480"/>
            <a:ext cx="2606040" cy="384048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508760" y="1828800"/>
            <a:ext cx="868680" cy="86868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600" b="1">
                <a:solidFill>
                  <a:srgbClr val="FFFFFF"/>
                </a:solidFill>
                <a:latin typeface="Microsoft JhengHe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880360"/>
            <a:ext cx="23317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800" b="1">
                <a:solidFill>
                  <a:srgbClr val="16304F"/>
                </a:solidFill>
                <a:latin typeface="Microsoft JhengHei"/>
              </a:rPr>
              <a:t>捏造條號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59" y="3383280"/>
            <a:ext cx="2240280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50" b="0">
                <a:solidFill>
                  <a:srgbClr val="334455"/>
                </a:solidFill>
                <a:latin typeface="Microsoft JhengHei"/>
              </a:rPr>
              <a:t>11 部法規逐條比對；查無就標「未收錄」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01568" y="1554480"/>
            <a:ext cx="2606040" cy="384048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270248" y="1828800"/>
            <a:ext cx="868680" cy="86868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600" b="1">
                <a:solidFill>
                  <a:srgbClr val="FFFFFF"/>
                </a:solidFill>
                <a:latin typeface="Microsoft JhengHe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38727" y="2880360"/>
            <a:ext cx="23317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800" b="1">
                <a:solidFill>
                  <a:srgbClr val="16304F"/>
                </a:solidFill>
                <a:latin typeface="Microsoft JhengHei"/>
              </a:rPr>
              <a:t>引文對不上卷證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84448" y="3383280"/>
            <a:ext cx="2240280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50" b="0">
                <a:solidFill>
                  <a:srgbClr val="334455"/>
                </a:solidFill>
                <a:latin typeface="Microsoft JhengHei"/>
              </a:rPr>
              <a:t>每句引文回查原文；查不到就標示為未驗證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554480"/>
            <a:ext cx="2606040" cy="384048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031736" y="1828800"/>
            <a:ext cx="868680" cy="86868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600" b="1">
                <a:solidFill>
                  <a:srgbClr val="FFFFFF"/>
                </a:solidFill>
                <a:latin typeface="Microsoft JhengHe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2880360"/>
            <a:ext cx="23317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800" b="1">
                <a:solidFill>
                  <a:srgbClr val="16304F"/>
                </a:solidFill>
                <a:latin typeface="Microsoft JhengHei"/>
              </a:rPr>
              <a:t>引到過期法規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45936" y="3383280"/>
            <a:ext cx="2240280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50" b="0">
                <a:solidFill>
                  <a:srgbClr val="334455"/>
                </a:solidFill>
                <a:latin typeface="Microsoft JhengHei"/>
              </a:rPr>
              <a:t>行為時／裁處時／決定時三個時點比對，修正過就提示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24544" y="1554480"/>
            <a:ext cx="2606040" cy="384048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793224" y="1828800"/>
            <a:ext cx="868680" cy="86868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600" b="1">
                <a:solidFill>
                  <a:srgbClr val="FFFFFF"/>
                </a:solidFill>
                <a:latin typeface="Microsoft JhengHe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61704" y="2880360"/>
            <a:ext cx="23317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800" b="1">
                <a:solidFill>
                  <a:srgbClr val="16304F"/>
                </a:solidFill>
                <a:latin typeface="Microsoft JhengHei"/>
              </a:rPr>
              <a:t>誤判程序結論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07424" y="3383280"/>
            <a:ext cx="2240280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50" b="0">
                <a:solidFill>
                  <a:srgbClr val="334455"/>
                </a:solidFill>
                <a:latin typeface="Microsoft JhengHei"/>
              </a:rPr>
              <a:t>不受理／駁回／撤銷由程式決定，AI 只寫理由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73152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7315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07 ／ 資料應用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先把 101 份決定書讀完，才決定系統怎麼設計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8 / 11</a:t>
            </a:r>
          </a:p>
        </p:txBody>
      </p:sp>
      <p:sp>
        <p:nvSpPr>
          <p:cNvPr id="9" name="Block Arc 8"/>
          <p:cNvSpPr/>
          <p:nvPr/>
        </p:nvSpPr>
        <p:spPr>
          <a:xfrm>
            <a:off x="822960" y="1600200"/>
            <a:ext cx="3566160" cy="3566160"/>
          </a:xfrm>
          <a:prstGeom prst="blockArc">
            <a:avLst>
              <a:gd name="adj1" fmla="val -9000000"/>
              <a:gd name="adj2" fmla="val 15840000"/>
              <a:gd name="adj3" fmla="val 20000"/>
            </a:avLst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Block Arc 9"/>
          <p:cNvSpPr/>
          <p:nvPr/>
        </p:nvSpPr>
        <p:spPr>
          <a:xfrm>
            <a:off x="822960" y="1600200"/>
            <a:ext cx="3566160" cy="3566160"/>
          </a:xfrm>
          <a:prstGeom prst="blockArc">
            <a:avLst>
              <a:gd name="adj1" fmla="val 15840000"/>
              <a:gd name="adj2" fmla="val 21240000"/>
              <a:gd name="adj3" fmla="val 20000"/>
            </a:avLst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Block Arc 10"/>
          <p:cNvSpPr/>
          <p:nvPr/>
        </p:nvSpPr>
        <p:spPr>
          <a:xfrm>
            <a:off x="822960" y="1600200"/>
            <a:ext cx="3566160" cy="3566160"/>
          </a:xfrm>
          <a:prstGeom prst="blockArc">
            <a:avLst>
              <a:gd name="adj1" fmla="val 21240000"/>
              <a:gd name="adj2" fmla="val 26639999"/>
              <a:gd name="adj3" fmla="val 20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743200"/>
            <a:ext cx="35661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4400" b="1">
                <a:solidFill>
                  <a:srgbClr val="16304F"/>
                </a:solidFill>
                <a:latin typeface="Microsoft JhengHei"/>
              </a:rPr>
              <a:t>69%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520440"/>
            <a:ext cx="35661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400" b="0">
                <a:solidFill>
                  <a:srgbClr val="5B6573"/>
                </a:solidFill>
                <a:latin typeface="Microsoft JhengHei"/>
              </a:rPr>
              <a:t>不受理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840480"/>
            <a:ext cx="35661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00" b="0">
                <a:solidFill>
                  <a:srgbClr val="8A93A0"/>
                </a:solidFill>
                <a:latin typeface="Microsoft JhengHei"/>
              </a:rPr>
              <a:t>駁回 15%・撤銷 15%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6320" y="1737360"/>
            <a:ext cx="66751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400" b="1">
                <a:solidFill>
                  <a:srgbClr val="16304F"/>
                </a:solidFill>
                <a:latin typeface="Microsoft JhengHei"/>
              </a:rPr>
              <a:t>七成案子在程序就結束了。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0" y="2880360"/>
            <a:ext cx="66751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5B6573"/>
                </a:solidFill>
                <a:latin typeface="Microsoft JhengHei"/>
              </a:rPr>
              <a:t>所以期間交給程式算；不受理的案子，草稿一個字都不碰實體。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846320" y="4023360"/>
            <a:ext cx="2103120" cy="9144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56048" y="4050791"/>
            <a:ext cx="1920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16304F"/>
                </a:solidFill>
                <a:latin typeface="Microsoft JhengHei"/>
              </a:rPr>
              <a:t>法規 11 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56048" y="4480560"/>
            <a:ext cx="1920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0">
                <a:solidFill>
                  <a:srgbClr val="5B6573"/>
                </a:solidFill>
                <a:latin typeface="Microsoft JhengHei"/>
              </a:rPr>
              <a:t>逐條比對＋知識庫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086600" y="4023360"/>
            <a:ext cx="2103120" cy="9144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96328" y="4050791"/>
            <a:ext cx="1920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16304F"/>
                </a:solidFill>
                <a:latin typeface="Microsoft JhengHei"/>
              </a:rPr>
              <a:t>判解 19・函釋 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96328" y="4480560"/>
            <a:ext cx="1920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0">
                <a:solidFill>
                  <a:srgbClr val="5B6573"/>
                </a:solidFill>
                <a:latin typeface="Microsoft JhengHei"/>
              </a:rPr>
              <a:t>進知識庫並標註類型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326880" y="4023360"/>
            <a:ext cx="2103120" cy="9144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36607" y="4050791"/>
            <a:ext cx="1920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16304F"/>
                </a:solidFill>
                <a:latin typeface="Microsoft JhengHei"/>
              </a:rPr>
              <a:t>自行補 3 個缺口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36607" y="4480560"/>
            <a:ext cx="1920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0">
                <a:solidFill>
                  <a:srgbClr val="5B6573"/>
                </a:solidFill>
                <a:latin typeface="Microsoft JhengHei"/>
              </a:rPr>
              <a:t>政資法・洗錢判準・空污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73152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7315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08 ／ 資料應用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拿不到答辯書和卷宗，就自己出三套考題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9 / 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554480"/>
            <a:ext cx="352044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1691640"/>
            <a:ext cx="3108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1">
                <a:solidFill>
                  <a:srgbClr val="D98E04"/>
                </a:solidFill>
                <a:latin typeface="Microsoft JhengHei"/>
              </a:rPr>
              <a:t>CASE 01 ／ 建築法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011680"/>
            <a:ext cx="310896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000" b="1">
                <a:solidFill>
                  <a:srgbClr val="16304F"/>
                </a:solidFill>
                <a:latin typeface="Microsoft JhengHei"/>
              </a:rPr>
              <a:t>訴願人遲了 7 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7" y="2606040"/>
            <a:ext cx="1188720" cy="411480"/>
          </a:xfrm>
          <a:prstGeom prst="roundRect">
            <a:avLst>
              <a:gd name="adj" fmla="val 8000"/>
            </a:avLst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7" y="2606040"/>
            <a:ext cx="118872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JhengHei"/>
              </a:rPr>
              <a:t>不受理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7" y="3154680"/>
            <a:ext cx="3108960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50" b="0">
                <a:solidFill>
                  <a:srgbClr val="334455"/>
                </a:solidFill>
                <a:latin typeface="Microsoft JhengHei"/>
              </a:rPr>
              <a:t>卷宗塞滿實質理由和照片當干擾；正確答案仍是程序不受理，不能寫任何實質認定。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25112" y="1554480"/>
            <a:ext cx="352044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26280" y="1691640"/>
            <a:ext cx="3108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1">
                <a:solidFill>
                  <a:srgbClr val="D98E04"/>
                </a:solidFill>
                <a:latin typeface="Microsoft JhengHei"/>
              </a:rPr>
              <a:t>CASE 02 ／ 廢清法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80" y="2011680"/>
            <a:ext cx="310896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000" b="1">
                <a:solidFill>
                  <a:srgbClr val="16304F"/>
                </a:solidFill>
                <a:latin typeface="Microsoft JhengHei"/>
              </a:rPr>
              <a:t>亂丟煙蒂，說沒丟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26280" y="2606040"/>
            <a:ext cx="1188720" cy="411480"/>
          </a:xfrm>
          <a:prstGeom prst="roundRect">
            <a:avLst>
              <a:gd name="adj" fmla="val 8000"/>
            </a:avLst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26280" y="2606040"/>
            <a:ext cx="118872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JhengHei"/>
              </a:rPr>
              <a:t>駁回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26280" y="3154680"/>
            <a:ext cx="3108960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50" b="0">
                <a:solidFill>
                  <a:srgbClr val="334455"/>
                </a:solidFill>
                <a:latin typeface="Microsoft JhengHei"/>
              </a:rPr>
              <a:t>影片 00:14 拋擲、00:19 煙蒂還在；訴願書寫的收受日和送達證書差 2 天，要以證書為準。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10144" y="1554480"/>
            <a:ext cx="352044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11312" y="1691640"/>
            <a:ext cx="3108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1">
                <a:solidFill>
                  <a:srgbClr val="D98E04"/>
                </a:solidFill>
                <a:latin typeface="Microsoft JhengHei"/>
              </a:rPr>
              <a:t>CASE 03 ／ 建築法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11312" y="2011680"/>
            <a:ext cx="310896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000" b="1">
                <a:solidFill>
                  <a:srgbClr val="16304F"/>
                </a:solidFill>
                <a:latin typeface="Microsoft JhengHei"/>
              </a:rPr>
              <a:t>政府遲了 26 天才罰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11312" y="2606040"/>
            <a:ext cx="1188720" cy="411480"/>
          </a:xfrm>
          <a:prstGeom prst="roundRect">
            <a:avLst>
              <a:gd name="adj" fmla="val 8000"/>
            </a:avLst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11312" y="2606040"/>
            <a:ext cx="118872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JhengHei"/>
              </a:rPr>
              <a:t>撤銷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11312" y="3154680"/>
            <a:ext cx="3108960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50" b="0">
                <a:solidFill>
                  <a:srgbClr val="334455"/>
                </a:solidFill>
                <a:latin typeface="Microsoft JhengHei"/>
              </a:rPr>
              <a:t>簽證不實證據很強，但三年裁處權時效已過；答辯書迴避不答，系統必須自行從卷內算出時效。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5623560"/>
            <a:ext cx="10908792" cy="566928"/>
          </a:xfrm>
          <a:prstGeom prst="rect">
            <a:avLst/>
          </a:prstGeom>
          <a:solidFill>
            <a:srgbClr val="FFF8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40080" y="5623560"/>
            <a:ext cx="64008" cy="566928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5641848"/>
            <a:ext cx="106070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0">
                <a:solidFill>
                  <a:srgbClr val="334455"/>
                </a:solidFill>
                <a:latin typeface="Microsoft JhengHei"/>
              </a:rPr>
              <a:t>每案 30 頁真實格式卷宗（掃描、手寫、系統截圖、影片）；對應決定書從知識庫排除，系統不能「認出答案」。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73152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7315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09 ／ 完成度與評分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今天做到哪裡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10 / 11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1691639"/>
            <a:ext cx="228600" cy="228600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1554480"/>
            <a:ext cx="438912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16304F"/>
                </a:solidFill>
                <a:latin typeface="Microsoft JhengHei"/>
              </a:rPr>
              <a:t>卷證分類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029967"/>
            <a:ext cx="4754880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0080" y="2194560"/>
            <a:ext cx="228600" cy="228600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057400"/>
            <a:ext cx="438912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16304F"/>
                </a:solidFill>
                <a:latin typeface="Microsoft JhengHei"/>
              </a:rPr>
              <a:t>五項分析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532888"/>
            <a:ext cx="4754880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0080" y="2697479"/>
            <a:ext cx="228600" cy="228600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2560320"/>
            <a:ext cx="438912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16304F"/>
                </a:solidFill>
                <a:latin typeface="Microsoft JhengHei"/>
              </a:rPr>
              <a:t>修正 → 確認 → 局部重算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035808"/>
            <a:ext cx="4754880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0080" y="3200400"/>
            <a:ext cx="228600" cy="228600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3063240"/>
            <a:ext cx="438912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16304F"/>
                </a:solidFill>
                <a:latin typeface="Microsoft JhengHei"/>
              </a:rPr>
              <a:t>法規庫同步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3538728"/>
            <a:ext cx="4754880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0080" y="3703320"/>
            <a:ext cx="228600" cy="228600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/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3566160"/>
            <a:ext cx="438912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16304F"/>
                </a:solidFill>
                <a:latin typeface="Microsoft JhengHei"/>
              </a:rPr>
              <a:t>畫面全部連到線上系統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4041648"/>
            <a:ext cx="4754880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0080" y="4206240"/>
            <a:ext cx="228600" cy="228600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/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" y="4069080"/>
            <a:ext cx="438912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16304F"/>
                </a:solidFill>
                <a:latin typeface="Microsoft JhengHei"/>
              </a:rPr>
              <a:t>自動化測試 52 個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4544568"/>
            <a:ext cx="4754880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0080" y="4709160"/>
            <a:ext cx="228600" cy="228600"/>
          </a:xfrm>
          <a:prstGeom prst="ellipse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/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4572000"/>
            <a:ext cx="438912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16304F"/>
                </a:solidFill>
                <a:latin typeface="Microsoft JhengHei"/>
              </a:rPr>
              <a:t>補件辨識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5047488"/>
            <a:ext cx="4754880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40080" y="5212080"/>
            <a:ext cx="228600" cy="228600"/>
          </a:xfrm>
          <a:prstGeom prst="ellipse">
            <a:avLst/>
          </a:prstGeom>
          <a:solidFill>
            <a:srgbClr val="C5CD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/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" y="5074920"/>
            <a:ext cx="438912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16304F"/>
                </a:solidFill>
                <a:latin typeface="Microsoft JhengHei"/>
              </a:rPr>
              <a:t>登入／HTTPS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" y="5550408"/>
            <a:ext cx="4754880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5943600" y="1554480"/>
            <a:ext cx="2697480" cy="169164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08192" y="1664207"/>
            <a:ext cx="237744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>
                <a:solidFill>
                  <a:srgbClr val="16304F"/>
                </a:solidFill>
                <a:latin typeface="Microsoft JhengHei"/>
              </a:rPr>
              <a:t>20%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08192" y="2286000"/>
            <a:ext cx="23774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16304F"/>
                </a:solidFill>
                <a:latin typeface="Microsoft JhengHei"/>
              </a:rPr>
              <a:t>技術可行性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08192" y="2633472"/>
            <a:ext cx="23774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0">
                <a:solidFill>
                  <a:srgbClr val="334455"/>
                </a:solidFill>
                <a:latin typeface="Microsoft JhengHei"/>
              </a:rPr>
              <a:t>允許清單內；呼叫頻率限制下固定流程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778240" y="1554480"/>
            <a:ext cx="2697480" cy="169164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942832" y="1664207"/>
            <a:ext cx="237744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>
                <a:solidFill>
                  <a:srgbClr val="16304F"/>
                </a:solidFill>
                <a:latin typeface="Microsoft JhengHei"/>
              </a:rPr>
              <a:t>25%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42832" y="2286000"/>
            <a:ext cx="23774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16304F"/>
                </a:solidFill>
                <a:latin typeface="Microsoft JhengHei"/>
              </a:rPr>
              <a:t>完成度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942832" y="2633472"/>
            <a:ext cx="23774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0">
                <a:solidFill>
                  <a:srgbClr val="334455"/>
                </a:solidFill>
                <a:latin typeface="Microsoft JhengHei"/>
              </a:rPr>
              <a:t>Live Demo 走完整流程；52 個測試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943600" y="3383280"/>
            <a:ext cx="2697480" cy="169164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108192" y="3493008"/>
            <a:ext cx="237744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>
                <a:solidFill>
                  <a:srgbClr val="16304F"/>
                </a:solidFill>
                <a:latin typeface="Microsoft JhengHei"/>
              </a:rPr>
              <a:t>30%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108192" y="4114800"/>
            <a:ext cx="23774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16304F"/>
                </a:solidFill>
                <a:latin typeface="Microsoft JhengHei"/>
              </a:rPr>
              <a:t>資料應用性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108192" y="4462272"/>
            <a:ext cx="23774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0">
                <a:solidFill>
                  <a:srgbClr val="334455"/>
                </a:solidFill>
                <a:latin typeface="Microsoft JhengHei"/>
              </a:rPr>
              <a:t>101 份讀完再設計；三套考題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778240" y="3383280"/>
            <a:ext cx="2697480" cy="169164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942832" y="3493008"/>
            <a:ext cx="237744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>
                <a:solidFill>
                  <a:srgbClr val="16304F"/>
                </a:solidFill>
                <a:latin typeface="Microsoft JhengHei"/>
              </a:rPr>
              <a:t>25%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942832" y="4114800"/>
            <a:ext cx="23774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16304F"/>
                </a:solidFill>
                <a:latin typeface="Microsoft JhengHei"/>
              </a:rPr>
              <a:t>主題契合度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942832" y="4462272"/>
            <a:ext cx="23774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0">
                <a:solidFill>
                  <a:srgbClr val="334455"/>
                </a:solidFill>
                <a:latin typeface="Microsoft JhengHei"/>
              </a:rPr>
              <a:t>四大功能對應；輔助不取代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40080" y="5623560"/>
            <a:ext cx="10908792" cy="566928"/>
          </a:xfrm>
          <a:prstGeom prst="rect">
            <a:avLst/>
          </a:prstGeom>
          <a:solidFill>
            <a:srgbClr val="FFF8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40080" y="5623560"/>
            <a:ext cx="64008" cy="566928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22960" y="5641848"/>
            <a:ext cx="106070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0">
                <a:solidFill>
                  <a:srgbClr val="334455"/>
                </a:solidFill>
                <a:latin typeface="Microsoft JhengHei"/>
              </a:rPr>
              <a:t>Live Demo　http://100.20.156.38/　— 所有畫面都是線上現跑的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326880" y="-1645920"/>
            <a:ext cx="5120640" cy="5120640"/>
          </a:xfrm>
          <a:prstGeom prst="ellipse">
            <a:avLst/>
          </a:prstGeom>
          <a:solidFill>
            <a:srgbClr val="1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103120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F2B544"/>
                </a:solidFill>
                <a:latin typeface="Microsoft JhengHei"/>
              </a:rPr>
              <a:t>2026 新北市 AI 智慧城市黑客松 ｜ 法制局組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514600"/>
            <a:ext cx="1051560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Microsoft JhengHei"/>
              </a:rPr>
              <a:t>謝謝，請指教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794760"/>
            <a:ext cx="105156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100" b="0">
                <a:solidFill>
                  <a:srgbClr val="C9D6E6"/>
                </a:solidFill>
                <a:latin typeface="Microsoft JhengHei"/>
              </a:rPr>
              <a:t>接下來：補件、法規自動更新、洗錢與空污案型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4480560"/>
            <a:ext cx="45720" cy="685800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4434840"/>
            <a:ext cx="914400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>
                <a:solidFill>
                  <a:srgbClr val="E6EDF5"/>
                </a:solidFill>
                <a:latin typeface="Microsoft JhengHei"/>
              </a:rPr>
              <a:t>Live Demo　http://100.20.156.38/　　GitHub　完整原始碼＋三套考題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