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Roy ／ Kevin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11680"/>
            <a:ext cx="39319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審卷流程自動化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74320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8A5A00"/>
                </a:solidFill>
                <a:latin typeface="Microsoft JhengHei"/>
              </a:rPr>
              <a:t>輔助判斷，不代為決定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每一步透明，每一步可修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數據飛輪：法規庫／案件庫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支柱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把審卷的例行工作自動化，承辦人只做判斷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07008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8A5A00"/>
                </a:solidFill>
                <a:latin typeface="Microsoft JhengHei"/>
              </a:rPr>
              <a:t>輔助判斷，不代為決定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讀卷・比對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48840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33087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查法條・函釋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3087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1583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撰擬草稿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1583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85832" y="1783080"/>
            <a:ext cx="187451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50" b="1">
                <a:solidFill>
                  <a:srgbClr val="8A93A0"/>
                </a:solidFill>
                <a:latin typeface="Microsoft JhengHei"/>
              </a:rPr>
              <a:t>審核・決定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85832" y="2148840"/>
            <a:ext cx="1874519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331720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現在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8840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33087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3087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17336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17336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3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1583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85832" y="2331720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85832" y="2331720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8A93A0"/>
                </a:solidFill>
                <a:latin typeface="Microsoft JhengHei"/>
              </a:rPr>
              <a:t>人工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749039"/>
            <a:ext cx="14630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48840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48840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33087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33087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17336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17336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01583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1583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85832" y="3749039"/>
            <a:ext cx="1874519" cy="118872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85832" y="3749039"/>
            <a:ext cx="1874519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承辦人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48640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548640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50468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承辦人的時間，從逐字撰擬，移到判斷與修正；每個爭點附認定、依據、卷證頁碼，採信哪一方會有什麼後果都寫清楚。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支柱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固定七個步驟，哪一步錯就修哪一步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3704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67328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4576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1824" y="1554480"/>
            <a:ext cx="1481328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 AI・約 2 分鐘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步驟固定，結果留底。錯在哪一步，就修那一步；每個結論都指得出卷證和條號。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期間怎麼算、該不該受理，是法條說了算，不是 AI 猜——這一步交給程式。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支柱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承辦人說改哪裡，系統改哪裡，改了什麼都有交代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59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承辦人指出問題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「爭點 2 改採信訴願人，因為影片 00:14 看不到拋擲」
可多點、可附卷證依據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84448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系統算出牽動哪幾步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爭點 → 法規 → 相似案例 → 草稿
只重算這幾步，其他不動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45936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改前改後並排，點確認才生效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改成什麼樣，先看見
取消則原樣不動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0876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7424" y="1691640"/>
            <a:ext cx="411480" cy="4114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7424" y="219456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每一點都回覆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2697480"/>
            <a:ext cx="22860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4455"/>
                </a:solidFill>
                <a:latin typeface="Microsoft JhengHei"/>
              </a:rPr>
              <a:t>採納、部分採納、或不採納
附理由，留紀錄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2064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12064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38927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助手有據才答：法條、決定書、本案卷證，查不到就說查不到；查到的，一鍵變成修正意見。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支柱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數據飛輪：決定書人人有，卷證只能自己攢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029200" cy="26517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459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6304F"/>
                </a:solidFill>
                <a:latin typeface="Microsoft JhengHei"/>
              </a:rPr>
              <a:t>為什麼只能自己累積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45720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・訴願法 §58 III／IV：答辯書只存在於機關、受理機關卷內、訴願人手上，沒有公開機制
・訴願法 §49、§75 II：卷宗閱覽限訴願人、參加人、代理人
・決定書到處都是，答辯書一份難求——制度使然。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43400"/>
            <a:ext cx="5029200" cy="1143000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343400"/>
            <a:ext cx="64008" cy="1143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70832"/>
            <a:ext cx="47548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中途補件走同一條路：一句「補這份」，只認新檔、只重算牽動的步驟。</a:t>
            </a:r>
          </a:p>
        </p:txBody>
      </p:sp>
      <p:sp>
        <p:nvSpPr>
          <p:cNvPr id="15" name="Oval 14"/>
          <p:cNvSpPr/>
          <p:nvPr/>
        </p:nvSpPr>
        <p:spPr>
          <a:xfrm>
            <a:off x="7360919" y="2103120"/>
            <a:ext cx="2834640" cy="2834640"/>
          </a:xfrm>
          <a:prstGeom prst="ellipse">
            <a:avLst/>
          </a:prstGeom>
          <a:noFill/>
          <a:ln w="50800">
            <a:solidFill>
              <a:srgbClr val="D98E0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24612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D98E04"/>
                </a:solidFill>
                <a:latin typeface="Microsoft JhengHei"/>
              </a:rPr>
              <a:t>越用越準</a:t>
            </a:r>
          </a:p>
        </p:txBody>
      </p:sp>
      <p:sp>
        <p:nvSpPr>
          <p:cNvPr id="17" name="Oval 16"/>
          <p:cNvSpPr/>
          <p:nvPr/>
        </p:nvSpPr>
        <p:spPr>
          <a:xfrm>
            <a:off x="8366760" y="1691639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辦案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868679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050" b="0">
                <a:solidFill>
                  <a:srgbClr val="334455"/>
                </a:solidFill>
                <a:latin typeface="Microsoft JhengHei"/>
              </a:rPr>
              <a:t>承辦人上傳卷宗、答辯書</a:t>
            </a:r>
          </a:p>
        </p:txBody>
      </p:sp>
      <p:sp>
        <p:nvSpPr>
          <p:cNvPr id="19" name="Oval 18"/>
          <p:cNvSpPr/>
          <p:nvPr/>
        </p:nvSpPr>
        <p:spPr>
          <a:xfrm>
            <a:off x="9714711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962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27 類文件，自動命名</a:t>
            </a:r>
          </a:p>
        </p:txBody>
      </p:sp>
      <p:sp>
        <p:nvSpPr>
          <p:cNvPr id="21" name="Oval 20"/>
          <p:cNvSpPr/>
          <p:nvPr/>
        </p:nvSpPr>
        <p:spPr>
          <a:xfrm>
            <a:off x="9199839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697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查法規庫、找相似案例、寫草稿</a:t>
            </a:r>
          </a:p>
        </p:txBody>
      </p:sp>
      <p:sp>
        <p:nvSpPr>
          <p:cNvPr id="23" name="Oval 22"/>
          <p:cNvSpPr/>
          <p:nvPr/>
        </p:nvSpPr>
        <p:spPr>
          <a:xfrm>
            <a:off x="7533680" y="4255595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8102" y="5252217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承辦人確認或修改</a:t>
            </a:r>
          </a:p>
        </p:txBody>
      </p:sp>
      <p:sp>
        <p:nvSpPr>
          <p:cNvPr id="25" name="Oval 24"/>
          <p:cNvSpPr/>
          <p:nvPr/>
        </p:nvSpPr>
        <p:spPr>
          <a:xfrm>
            <a:off x="7018808" y="2670984"/>
            <a:ext cx="822960" cy="82296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入庫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7837" y="2543042"/>
            <a:ext cx="20116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50" b="0">
                <a:solidFill>
                  <a:srgbClr val="334455"/>
                </a:solidFill>
                <a:latin typeface="Microsoft JhengHei"/>
              </a:rPr>
              <a:t>下一案的相似案例＋法規版本更新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14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會犯的四種錯，四道關卡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部法規逐條比對；查無就標「未收錄」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引文對不上卷證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每句引文回查原文；查不到就標示為未驗證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行為時／裁處時／決定時三個時點比對，修正過就提示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不受理／駁回／撤銷由程式決定，AI 只寫理由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11 / 14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七成案子在程序就結束了。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所以期間交給程式算；不受理的案子，草稿一個字都不碰實體。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逐條比對＋知識庫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進知識庫並標註類型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拿不到答辯書和卷宗，就自己出三套考題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12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11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13 / 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所有畫面都是線上現跑的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