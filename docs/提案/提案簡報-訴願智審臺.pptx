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600" b="1">
                <a:solidFill>
                  <a:srgbClr val="FFFFFF"/>
                </a:solidFill>
                <a:latin typeface="Microsoft JhengHei"/>
              </a:rPr>
              <a:t>訴願智審臺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00" b="0">
                <a:solidFill>
                  <a:srgbClr val="C9D6E6"/>
                </a:solidFill>
                <a:latin typeface="Microsoft JhengHei"/>
              </a:rPr>
              <a:t>承辦人的 AI 審卷助手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566160"/>
            <a:ext cx="45720" cy="6858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520439"/>
            <a:ext cx="9144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E6EDF5"/>
                </a:solidFill>
                <a:latin typeface="Microsoft JhengHei"/>
              </a:rPr>
              <a:t>AI 把例行比對做完、把證據攤開；決定，留給承辦人。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846320"/>
            <a:ext cx="3337560" cy="1143000"/>
          </a:xfrm>
          <a:prstGeom prst="roundRect">
            <a:avLst>
              <a:gd name="adj" fmla="val 8000"/>
            </a:avLst>
          </a:prstGeom>
          <a:solidFill>
            <a:srgbClr val="244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901184"/>
            <a:ext cx="3017520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F2B544"/>
                </a:solidFill>
                <a:latin typeface="Microsoft JhengHei"/>
              </a:rPr>
              <a:t>1,566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468112"/>
            <a:ext cx="30175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>
                <a:solidFill>
                  <a:srgbClr val="C9D6E6"/>
                </a:solidFill>
                <a:latin typeface="Microsoft JhengHei"/>
              </a:rPr>
              <a:t>件／年　新北訴願案量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846320"/>
            <a:ext cx="3337560" cy="1143000"/>
          </a:xfrm>
          <a:prstGeom prst="roundRect">
            <a:avLst>
              <a:gd name="adj" fmla="val 8000"/>
            </a:avLst>
          </a:prstGeom>
          <a:solidFill>
            <a:srgbClr val="244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017520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F2B544"/>
                </a:solidFill>
                <a:latin typeface="Microsoft JhengHei"/>
              </a:rPr>
              <a:t>2 分鐘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468112"/>
            <a:ext cx="30175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>
                <a:solidFill>
                  <a:srgbClr val="C9D6E6"/>
                </a:solidFill>
                <a:latin typeface="Microsoft JhengHei"/>
              </a:rPr>
              <a:t>上傳卷宗 → 五分頁分析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4846320"/>
            <a:ext cx="3337560" cy="1143000"/>
          </a:xfrm>
          <a:prstGeom prst="roundRect">
            <a:avLst>
              <a:gd name="adj" fmla="val 8000"/>
            </a:avLst>
          </a:prstGeom>
          <a:solidFill>
            <a:srgbClr val="244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59" y="4901184"/>
            <a:ext cx="3017520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F2B544"/>
                </a:solidFill>
                <a:latin typeface="Microsoft JhengHei"/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59" y="5468112"/>
            <a:ext cx="30175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>
                <a:solidFill>
                  <a:srgbClr val="C9D6E6"/>
                </a:solidFill>
                <a:latin typeface="Microsoft JhengHei"/>
              </a:rPr>
              <a:t>結論可點回卷證原句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01 ／ 破題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法制局的三個困難，對應三個設計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2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8A93A0"/>
                </a:solidFill>
                <a:latin typeface="Microsoft JhengHei"/>
              </a:rPr>
              <a:t>困難（命題文件）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554480"/>
            <a:ext cx="5943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8A93A0"/>
                </a:solidFill>
                <a:latin typeface="Microsoft JhengHei"/>
              </a:rPr>
              <a:t>我們的設計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847088"/>
            <a:ext cx="3840480" cy="1828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577840" y="1847088"/>
            <a:ext cx="5943600" cy="1828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2331720"/>
            <a:ext cx="457200" cy="45720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286000"/>
            <a:ext cx="329184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16304F"/>
                </a:solidFill>
                <a:latin typeface="Microsoft JhengHei"/>
              </a:rPr>
              <a:t>同類案子一件件手寫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240280"/>
            <a:ext cx="82296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3000" b="1">
                <a:solidFill>
                  <a:srgbClr val="D98E04"/>
                </a:solidFill>
                <a:latin typeface="Microsoft JhengHe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77840" y="2057400"/>
            <a:ext cx="5943600" cy="105156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7840" y="2057400"/>
            <a:ext cx="64008" cy="105156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0" y="214884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0F2038"/>
                </a:solidFill>
                <a:latin typeface="Microsoft JhengHei"/>
              </a:rPr>
              <a:t>固定五步驟自動產出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2624328"/>
            <a:ext cx="56692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5B6573"/>
                </a:solidFill>
                <a:latin typeface="Microsoft JhengHei"/>
              </a:rPr>
              <a:t>期間、八款不受理用程式算，不靠模型猜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3703320"/>
            <a:ext cx="457200" cy="45720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657600"/>
            <a:ext cx="329184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16304F"/>
                </a:solidFill>
                <a:latin typeface="Microsoft JhengHei"/>
              </a:rPr>
              <a:t>函釋更新靠人翻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3611880"/>
            <a:ext cx="82296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3000" b="1">
                <a:solidFill>
                  <a:srgbClr val="D98E04"/>
                </a:solidFill>
                <a:latin typeface="Microsoft JhengHe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77840" y="3429000"/>
            <a:ext cx="5943600" cy="105156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577840" y="3429000"/>
            <a:ext cx="64008" cy="105156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0720" y="352044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0F2038"/>
                </a:solidFill>
                <a:latin typeface="Microsoft JhengHei"/>
              </a:rPr>
              <a:t>法規庫三時點比對＋一鍵同步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0" y="3995928"/>
            <a:ext cx="56692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5B6573"/>
                </a:solidFill>
                <a:latin typeface="Microsoft JhengHei"/>
              </a:rPr>
              <a:t>查無的條號標「未收錄」，不放行</a:t>
            </a:r>
          </a:p>
        </p:txBody>
      </p:sp>
      <p:sp>
        <p:nvSpPr>
          <p:cNvPr id="27" name="Oval 26"/>
          <p:cNvSpPr/>
          <p:nvPr/>
        </p:nvSpPr>
        <p:spPr>
          <a:xfrm>
            <a:off x="640080" y="5074920"/>
            <a:ext cx="457200" cy="45720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5029200"/>
            <a:ext cx="329184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900" b="1">
                <a:solidFill>
                  <a:srgbClr val="16304F"/>
                </a:solidFill>
                <a:latin typeface="Microsoft JhengHei"/>
              </a:rPr>
              <a:t>沒有標準工具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983480"/>
            <a:ext cx="82296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3000" b="1">
                <a:solidFill>
                  <a:srgbClr val="D98E04"/>
                </a:solidFill>
                <a:latin typeface="Microsoft JhengHei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77840" y="4800600"/>
            <a:ext cx="5943600" cy="105156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577840" y="4800600"/>
            <a:ext cx="64008" cy="105156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0" y="489204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0F2038"/>
                </a:solidFill>
                <a:latin typeface="Microsoft JhengHei"/>
              </a:rPr>
              <a:t>承辦人工作台＋助手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0" y="5367528"/>
            <a:ext cx="56692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5B6573"/>
                </a:solidFill>
                <a:latin typeface="Microsoft JhengHei"/>
              </a:rPr>
              <a:t>自然語言 → 提案卡 → 確認才改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02 ／ 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輔助，不是取代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3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5303520" cy="448056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37360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5B6573"/>
                </a:solidFill>
                <a:latin typeface="Microsoft JhengHei"/>
              </a:rPr>
              <a:t>✕  AI 直接給答案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40280"/>
            <a:ext cx="48463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50" b="0">
                <a:solidFill>
                  <a:srgbClr val="5B6573"/>
                </a:solidFill>
                <a:latin typeface="Microsoft JhengHei"/>
              </a:rPr>
              <a:t>「本案應駁回。」——承辦人只能信或不信。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88720" y="3931920"/>
            <a:ext cx="4206240" cy="1097280"/>
          </a:xfrm>
          <a:prstGeom prst="roundRect">
            <a:avLst>
              <a:gd name="adj" fmla="val 8000"/>
            </a:avLst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931920"/>
            <a:ext cx="420624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2200" b="1">
                <a:solidFill>
                  <a:srgbClr val="5B6573"/>
                </a:solidFill>
                <a:latin typeface="Microsoft JhengHei"/>
              </a:rPr>
              <a:t>駁回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7492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8A93A0"/>
                </a:solidFill>
                <a:latin typeface="Microsoft JhengHei"/>
              </a:rPr>
              <a:t>黑盒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508760"/>
            <a:ext cx="5303520" cy="4480560"/>
          </a:xfrm>
          <a:prstGeom prst="roundRect">
            <a:avLst>
              <a:gd name="adj" fmla="val 6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737360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JhengHei"/>
              </a:rPr>
              <a:t>✓  AI 攤開證據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240280"/>
            <a:ext cx="48463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50" b="0">
                <a:solidFill>
                  <a:srgbClr val="E6EDF5"/>
                </a:solidFill>
                <a:latin typeface="Microsoft JhengHei"/>
              </a:rPr>
              <a:t>每個爭點附「依據一句＋卷證原句」，承辦人點回去看，決定自己下。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3520440"/>
            <a:ext cx="4754880" cy="457200"/>
          </a:xfrm>
          <a:prstGeom prst="roundRect">
            <a:avLst>
              <a:gd name="adj" fmla="val 8000"/>
            </a:avLst>
          </a:prstGeom>
          <a:solidFill>
            <a:srgbClr val="244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3520440"/>
            <a:ext cx="4572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Microsoft JhengHei"/>
              </a:rPr>
              <a:t>爭點 1　採機關　→ 送達證書 p.2「本人簽收」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4087368"/>
            <a:ext cx="4754880" cy="457200"/>
          </a:xfrm>
          <a:prstGeom prst="roundRect">
            <a:avLst>
              <a:gd name="adj" fmla="val 8000"/>
            </a:avLst>
          </a:prstGeom>
          <a:solidFill>
            <a:srgbClr val="244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4087368"/>
            <a:ext cx="4572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Microsoft JhengHei"/>
              </a:rPr>
              <a:t>爭點 2　採訴願人 → 影片 00:14「未見拋擲」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37960" y="4654296"/>
            <a:ext cx="4754880" cy="457200"/>
          </a:xfrm>
          <a:prstGeom prst="roundRect">
            <a:avLst>
              <a:gd name="adj" fmla="val 8000"/>
            </a:avLst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654296"/>
            <a:ext cx="45720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承辦人：確認／修改 → 才寫進草稿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03 ／ 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承辦人只做五件事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4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17319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丟卷宗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掃描、照片、影片都行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30168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2928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自動歸戶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928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27 類・自動命名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68696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43016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5776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看五分頁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欄位・爭點・法規・案例・草稿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81544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55864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78624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跟助手講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78624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「爭點 2 改採訴願人」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94392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68711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91472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確認送審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91472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草稿 v1／v2 可回溯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示範：case02 亂丟煙蒂，20 頁卷宗＋影片 — 90 秒歸戶、2 分鐘出五分頁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04 ／ 主題契合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命題要的四件事，都做了，而且查得到證據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5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5394960" cy="1965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8680" y="1828800"/>
            <a:ext cx="548640" cy="54864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1755648"/>
            <a:ext cx="42976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16304F"/>
                </a:solidFill>
                <a:latin typeface="Microsoft JhengHei"/>
              </a:rPr>
              <a:t>案件資訊擷取與分類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240280"/>
            <a:ext cx="42976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訴願人、處分、理由、期間、案型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743200"/>
            <a:ext cx="42976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8A5A00"/>
                </a:solidFill>
                <a:latin typeface="Microsoft JhengHei"/>
              </a:rPr>
              <a:t>每個欄位點回卷證原句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554480"/>
            <a:ext cx="5394960" cy="1965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0" y="1828800"/>
            <a:ext cx="548640" cy="54864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1755648"/>
            <a:ext cx="42976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16304F"/>
                </a:solidFill>
                <a:latin typeface="Microsoft JhengHei"/>
              </a:rPr>
              <a:t>法規推薦＋最新修正狀態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2240280"/>
            <a:ext cx="42976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KB 語意檢索 → 程式查核條號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2743200"/>
            <a:ext cx="42976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8A5A00"/>
                </a:solidFill>
                <a:latin typeface="Microsoft JhengHei"/>
              </a:rPr>
              <a:t>查無 → 標「未收錄」，不放行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49039"/>
            <a:ext cx="5394960" cy="1965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8680" y="4023359"/>
            <a:ext cx="548640" cy="54864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3950207"/>
            <a:ext cx="42976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16304F"/>
                </a:solidFill>
                <a:latin typeface="Microsoft JhengHei"/>
              </a:rPr>
              <a:t>相似案例 3–5 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4434840"/>
            <a:ext cx="42976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101 份決定書，排除本案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4937759"/>
            <a:ext cx="42976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8A5A00"/>
                </a:solidFill>
                <a:latin typeface="Microsoft JhengHei"/>
              </a:rPr>
              <a:t>指出「可借用哪一段理由」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749039"/>
            <a:ext cx="5394960" cy="1965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00800" y="4023359"/>
            <a:ext cx="548640" cy="54864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3950207"/>
            <a:ext cx="42976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16304F"/>
                </a:solidFill>
                <a:latin typeface="Microsoft JhengHei"/>
              </a:rPr>
              <a:t>決定書草稿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4434840"/>
            <a:ext cx="42976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主文・事實・理由・教示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937759"/>
            <a:ext cx="42976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8A5A00"/>
                </a:solidFill>
                <a:latin typeface="Microsoft JhengHei"/>
              </a:rPr>
              <a:t>主文由程式選模板，不由模型決定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05 ／ 技術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卷宗不會是乾淨的 PDF——系統看內容，不看檔名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6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4754880" cy="3108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91640"/>
            <a:ext cx="4389120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5B6573"/>
                </a:solidFill>
                <a:latin typeface="Microsoft JhengHei"/>
              </a:rPr>
              <a:t>IMG_3985.jpg
scan_0001.pdf
文件(2).pdf
DASHCAM_0627.mp4
IMG_3988(1).jpg
掃描全卷.pdf（20 頁）
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651760"/>
            <a:ext cx="11887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4000" b="1">
                <a:solidFill>
                  <a:srgbClr val="D98E04"/>
                </a:solidFill>
                <a:latin typeface="Microsoft Jheng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1508760"/>
            <a:ext cx="4754880" cy="310896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 w="19050">
            <a:solidFill>
              <a:srgbClr val="D98E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691640"/>
            <a:ext cx="4389120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0F2038"/>
                </a:solidFill>
                <a:latin typeface="Microsoft JhengHei"/>
              </a:rPr>
              <a:t>01- 訴願書_114-09-22
07- 裁處書_114-09-16
11- 送達證書_114-09-18
14- 採證照片 ×3
19- 採證影片 00:12
—  重複檔 1 份（已標）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4632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73752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16304F"/>
                </a:solidFill>
                <a:latin typeface="Microsoft JhengHei"/>
              </a:rPr>
              <a:t>27 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330952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>
                <a:solidFill>
                  <a:srgbClr val="5B6573"/>
                </a:solidFill>
                <a:latin typeface="Microsoft JhengHei"/>
              </a:rPr>
              <a:t>文件類型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484632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0440" y="4873752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16304F"/>
                </a:solidFill>
                <a:latin typeface="Microsoft JhengHei"/>
              </a:rPr>
              <a:t>20 /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5330952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>
                <a:solidFill>
                  <a:srgbClr val="5B6573"/>
                </a:solidFill>
                <a:latin typeface="Microsoft JhengHei"/>
              </a:rPr>
              <a:t>亂檔名全對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84632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4873752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16304F"/>
                </a:solidFill>
                <a:latin typeface="Microsoft JhengHei"/>
              </a:rPr>
              <a:t>90 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5330952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>
                <a:solidFill>
                  <a:srgbClr val="5B6573"/>
                </a:solidFill>
                <a:latin typeface="Microsoft JhengHei"/>
              </a:rPr>
              <a:t>20 檔含影片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69680" y="484632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06840" y="4873752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16304F"/>
                </a:solidFill>
                <a:latin typeface="Microsoft JhengHei"/>
              </a:rPr>
              <a:t>手寫・掃描・影片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5330952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>
                <a:solidFill>
                  <a:srgbClr val="5B6573"/>
                </a:solidFill>
                <a:latin typeface="Microsoft JhengHei"/>
              </a:rPr>
              <a:t>都能辨識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05 ／ 技術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固定七步，不是放任 AI 自由發揮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7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欄位擷取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B36F00"/>
                </a:solidFill>
                <a:latin typeface="Microsoft JhengHei"/>
              </a:rPr>
              <a:t>模型 1 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03704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2F8F3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3704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期間・程序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86584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E0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86584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2E7D32"/>
                </a:solidFill>
                <a:latin typeface="Microsoft JhengHei"/>
              </a:rPr>
              <a:t>程式 0 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67328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67328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爭點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50208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0208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B36F00"/>
                </a:solidFill>
                <a:latin typeface="Microsoft JhengHei"/>
              </a:rPr>
              <a:t>模型 1 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30952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0952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法規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13832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13832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B36F00"/>
                </a:solidFill>
                <a:latin typeface="Microsoft JhengHei"/>
              </a:rPr>
              <a:t>檢索＋1 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94576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94576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相似案例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77456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77456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B36F00"/>
                </a:solidFill>
                <a:latin typeface="Microsoft JhengHei"/>
              </a:rPr>
              <a:t>檢索＋1 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58200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58200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草稿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41080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1080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B36F00"/>
                </a:solidFill>
                <a:latin typeface="Microsoft JhengHei"/>
              </a:rPr>
              <a:t>模型 1 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021824" y="1554480"/>
            <a:ext cx="14813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21824" y="1664208"/>
            <a:ext cx="148132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50" b="1">
                <a:solidFill>
                  <a:srgbClr val="16304F"/>
                </a:solidFill>
                <a:latin typeface="Microsoft JhengHei"/>
              </a:rPr>
              <a:t>修改重跑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204703" y="2212848"/>
            <a:ext cx="1115568" cy="365760"/>
          </a:xfrm>
          <a:prstGeom prst="roundRect">
            <a:avLst>
              <a:gd name="adj" fmla="val 30000"/>
            </a:avLst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04703" y="2212848"/>
            <a:ext cx="1115568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B36F00"/>
                </a:solidFill>
                <a:latin typeface="Microsoft JhengHei"/>
              </a:rPr>
              <a:t>只跑受影響步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3200400"/>
            <a:ext cx="2103120" cy="14630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600" b="1">
                <a:solidFill>
                  <a:srgbClr val="16304F"/>
                </a:solidFill>
                <a:latin typeface="Microsoft JhengHe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3977639"/>
            <a:ext cx="25603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5B6573"/>
                </a:solidFill>
                <a:latin typeface="Microsoft JhengHei"/>
              </a:rPr>
              <a:t>次模型呼叫・約 2 分鐘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291840"/>
            <a:ext cx="6035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334455"/>
                </a:solidFill>
                <a:latin typeface="Microsoft JhengHei"/>
              </a:rPr>
              <a:t>呼叫次數固定、每步結果落地——所以能在 1 RPS 限制下跑，能單步重跑，能做評測。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4297680"/>
            <a:ext cx="60350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2E7D32"/>
                </a:solidFill>
                <a:latin typeface="Microsoft JhengHei"/>
              </a:rPr>
              <a:t>綠色那步是程式算的：30 日期間、八款不受理，不交給模型猜。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06 ／ AWS 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一台 EC2，三個 AWS 服務，全在允許清單內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8 / 14</a:t>
            </a:r>
          </a:p>
        </p:txBody>
      </p:sp>
      <p:pic>
        <p:nvPicPr>
          <p:cNvPr id="9" name="Picture 8" descr="aws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17320"/>
            <a:ext cx="10424160" cy="489482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07 ／ 可信度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AI 最常犯的四種錯，各有一道閘門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9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508760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捏造條號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11 部法規逐條字典查核；查無就標「未收錄」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70248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7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引句不符卷證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每句引文回查原文；查不到列入未驗證清單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31736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引到過期法規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行為時／裁處時／決定時三時點比對，修正過就提示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24544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793224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1704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誤判程序結論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07424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不受理／駁回／撤銷由程式選模板，模型只寫理由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08 ／ 資料應用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先把 101 份決定書讀完，才決定系統怎麼設計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10 / 14</a:t>
            </a:r>
          </a:p>
        </p:txBody>
      </p:sp>
      <p:sp>
        <p:nvSpPr>
          <p:cNvPr id="9" name="Block Arc 8"/>
          <p:cNvSpPr/>
          <p:nvPr/>
        </p:nvSpPr>
        <p:spPr>
          <a:xfrm>
            <a:off x="822960" y="1600200"/>
            <a:ext cx="3566160" cy="3566160"/>
          </a:xfrm>
          <a:prstGeom prst="blockArc">
            <a:avLst>
              <a:gd name="adj1" fmla="val -9000000"/>
              <a:gd name="adj2" fmla="val 15840000"/>
              <a:gd name="adj3" fmla="val 2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Block Arc 9"/>
          <p:cNvSpPr/>
          <p:nvPr/>
        </p:nvSpPr>
        <p:spPr>
          <a:xfrm>
            <a:off x="822960" y="1600200"/>
            <a:ext cx="3566160" cy="3566160"/>
          </a:xfrm>
          <a:prstGeom prst="blockArc">
            <a:avLst>
              <a:gd name="adj1" fmla="val 15840000"/>
              <a:gd name="adj2" fmla="val 21240000"/>
              <a:gd name="adj3" fmla="val 20000"/>
            </a:avLst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Block Arc 10"/>
          <p:cNvSpPr/>
          <p:nvPr/>
        </p:nvSpPr>
        <p:spPr>
          <a:xfrm>
            <a:off x="822960" y="1600200"/>
            <a:ext cx="3566160" cy="3566160"/>
          </a:xfrm>
          <a:prstGeom prst="blockArc">
            <a:avLst>
              <a:gd name="adj1" fmla="val 21240000"/>
              <a:gd name="adj2" fmla="val 26639999"/>
              <a:gd name="adj3" fmla="val 2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35661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4400" b="1">
                <a:solidFill>
                  <a:srgbClr val="16304F"/>
                </a:solidFill>
                <a:latin typeface="Microsoft JhengHei"/>
              </a:rPr>
              <a:t>69%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2044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0">
                <a:solidFill>
                  <a:srgbClr val="5B6573"/>
                </a:solidFill>
                <a:latin typeface="Microsoft JhengHei"/>
              </a:rPr>
              <a:t>不受理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4048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8A93A0"/>
                </a:solidFill>
                <a:latin typeface="Microsoft JhengHei"/>
              </a:rPr>
              <a:t>駁回 15%・撤銷 15%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1737360"/>
            <a:ext cx="6675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16304F"/>
                </a:solidFill>
                <a:latin typeface="Microsoft JhengHei"/>
              </a:rPr>
              <a:t>七成案子連實體都不審——程序（30 日、八款）是勝負手。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880360"/>
            <a:ext cx="66751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5B6573"/>
                </a:solidFill>
                <a:latin typeface="Microsoft JhengHei"/>
              </a:rPr>
              <a:t>所以期間計算做成程式，不交給模型；不受理案的草稿不寫實體。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40233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4050791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法規 11 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6048" y="44805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5B6573"/>
                </a:solidFill>
                <a:latin typeface="Microsoft JhengHei"/>
              </a:rPr>
              <a:t>逐條字典＋KB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40233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4050791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判解 19・函釋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44805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5B6573"/>
                </a:solidFill>
                <a:latin typeface="Microsoft JhengHei"/>
              </a:rPr>
              <a:t>KB metadata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26880" y="40233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7" y="4050791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自行補 3 個缺口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36607" y="44805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5B6573"/>
                </a:solidFill>
                <a:latin typeface="Microsoft JhengHei"/>
              </a:rPr>
              <a:t>政資法・洗錢判準・空污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08 ／ 資料應用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答辯書和卷證拿不到——我們自己造了三案考題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11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01 ／ 建築法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訴願人遲了 7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7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不受理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卷宗塞滿實體理由和照片當干擾；正確答案仍是程序不受理，一字實體都不能寫。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02 ／ 廢清法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亂丟煙蒂，說沒丟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26280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駁回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影片 00:14 拋擲、00:19 煙蒂還在；訴願書寫的收受日和送達證書差 2 天，要以證書為準。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0144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11312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03 ／ 建築法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政府遲了 26 天才罰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11312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撤銷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簽證不實證據很強，但三年裁處權時效已過；答辯書迴避不答，系統要自己算出來。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每案 30 頁真實格式卷宗（掃描、手寫、系統截圖、影片）；對應決定書從知識庫排除，系統不能「認出答案」。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09 ／ 完成度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今天線上能做到哪裡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12 / 14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1783080"/>
            <a:ext cx="256032" cy="256032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600200"/>
            <a:ext cx="3657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16304F"/>
                </a:solidFill>
                <a:latin typeface="Microsoft JhengHei"/>
              </a:rPr>
              <a:t>文件歸戶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600200"/>
            <a:ext cx="15544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>
                <a:solidFill>
                  <a:srgbClr val="5B6573"/>
                </a:solidFill>
                <a:latin typeface="Microsoft JhengHei"/>
              </a:rPr>
              <a:t>上線・真跑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167128"/>
            <a:ext cx="534924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17920" y="1783080"/>
            <a:ext cx="256032" cy="256032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1600200"/>
            <a:ext cx="3657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16304F"/>
                </a:solidFill>
                <a:latin typeface="Microsoft JhengHei"/>
              </a:rPr>
              <a:t>五分頁分析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1600200"/>
            <a:ext cx="15544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>
                <a:solidFill>
                  <a:srgbClr val="5B6573"/>
                </a:solidFill>
                <a:latin typeface="Microsoft JhengHei"/>
              </a:rPr>
              <a:t>上線・真跑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167128"/>
            <a:ext cx="534924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0080" y="2651760"/>
            <a:ext cx="256032" cy="256032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468880"/>
            <a:ext cx="3657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16304F"/>
                </a:solidFill>
                <a:latin typeface="Microsoft JhengHei"/>
              </a:rPr>
              <a:t>助手提案 → 確認 → 局部重跑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468880"/>
            <a:ext cx="15544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>
                <a:solidFill>
                  <a:srgbClr val="5B6573"/>
                </a:solidFill>
                <a:latin typeface="Microsoft JhengHei"/>
              </a:rPr>
              <a:t>上線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035808"/>
            <a:ext cx="534924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17920" y="2651760"/>
            <a:ext cx="256032" cy="256032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468880"/>
            <a:ext cx="3657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16304F"/>
                </a:solidFill>
                <a:latin typeface="Microsoft JhengHei"/>
              </a:rPr>
              <a:t>法規庫同步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2468880"/>
            <a:ext cx="15544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>
                <a:solidFill>
                  <a:srgbClr val="5B6573"/>
                </a:solidFill>
                <a:latin typeface="Microsoft JhengHei"/>
              </a:rPr>
              <a:t>上線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3035808"/>
            <a:ext cx="534924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0080" y="3520440"/>
            <a:ext cx="256032" cy="256032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337560"/>
            <a:ext cx="3657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16304F"/>
                </a:solidFill>
                <a:latin typeface="Microsoft JhengHei"/>
              </a:rPr>
              <a:t>前端工作台接真 API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3337560"/>
            <a:ext cx="15544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>
                <a:solidFill>
                  <a:srgbClr val="5B6573"/>
                </a:solidFill>
                <a:latin typeface="Microsoft JhengHei"/>
              </a:rPr>
              <a:t>上線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3904487"/>
            <a:ext cx="534924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217920" y="3520440"/>
            <a:ext cx="256032" cy="256032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3337560"/>
            <a:ext cx="3657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16304F"/>
                </a:solidFill>
                <a:latin typeface="Microsoft JhengHei"/>
              </a:rPr>
              <a:t>自動化測試 52 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3337560"/>
            <a:ext cx="15544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>
                <a:solidFill>
                  <a:srgbClr val="5B6573"/>
                </a:solidFill>
                <a:latin typeface="Microsoft JhengHei"/>
              </a:rPr>
              <a:t>通過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904487"/>
            <a:ext cx="534924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0080" y="4389120"/>
            <a:ext cx="256032" cy="256032"/>
          </a:xfrm>
          <a:prstGeom prst="ellipse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4206240"/>
            <a:ext cx="3657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16304F"/>
                </a:solidFill>
                <a:latin typeface="Microsoft JhengHei"/>
              </a:rPr>
              <a:t>補件辨識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4206240"/>
            <a:ext cx="15544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>
                <a:solidFill>
                  <a:srgbClr val="5B6573"/>
                </a:solidFill>
                <a:latin typeface="Microsoft JhengHei"/>
              </a:rPr>
              <a:t>UI 完成，待接 API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4773168"/>
            <a:ext cx="534924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217920" y="4389120"/>
            <a:ext cx="256032" cy="256032"/>
          </a:xfrm>
          <a:prstGeom prst="ellipse">
            <a:avLst/>
          </a:prstGeom>
          <a:solidFill>
            <a:srgbClr val="C5C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206240"/>
            <a:ext cx="3657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16304F"/>
                </a:solidFill>
                <a:latin typeface="Microsoft JhengHei"/>
              </a:rPr>
              <a:t>登入／HTTPS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0" y="4206240"/>
            <a:ext cx="15544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200" b="0">
                <a:solidFill>
                  <a:srgbClr val="5B6573"/>
                </a:solidFill>
                <a:latin typeface="Microsoft JhengHei"/>
              </a:rPr>
              <a:t>正式版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17920" y="4773168"/>
            <a:ext cx="534924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Live Demo　http://100.20.156.38/　— 所有數據都是 EC2 真跑，不是 mock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10 ／ 評分對照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四個評分項目，各一句證據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13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691640"/>
            <a:ext cx="2286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400" b="1">
                <a:solidFill>
                  <a:srgbClr val="16304F"/>
                </a:solidFill>
                <a:latin typeface="Microsoft JhengHei"/>
              </a:rPr>
              <a:t>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56032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16304F"/>
                </a:solidFill>
                <a:latin typeface="Microsoft JhengHei"/>
              </a:rPr>
              <a:t>技術可行性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063240"/>
            <a:ext cx="228600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允許清單內服務；1 RPS 下固定 pipeline；掃描／手寫／影片都吃。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59" y="4937760"/>
            <a:ext cx="2240280" cy="73152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59" y="4937760"/>
            <a:ext cx="1120140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01568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4448" y="1691640"/>
            <a:ext cx="2286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400" b="1">
                <a:solidFill>
                  <a:srgbClr val="16304F"/>
                </a:solidFill>
                <a:latin typeface="Microsoft JhengHei"/>
              </a:rPr>
              <a:t>25%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56032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16304F"/>
                </a:solidFill>
                <a:latin typeface="Microsoft JhengHei"/>
              </a:rPr>
              <a:t>完成度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4448" y="3063240"/>
            <a:ext cx="228600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前後端上線，Live Demo 走完整流程；52 個測試。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84448" y="4937760"/>
            <a:ext cx="2240280" cy="73152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84448" y="4937760"/>
            <a:ext cx="140017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63056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1691640"/>
            <a:ext cx="2286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400" b="1">
                <a:solidFill>
                  <a:srgbClr val="16304F"/>
                </a:solidFill>
                <a:latin typeface="Microsoft JhengHei"/>
              </a:rPr>
              <a:t>30%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256032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16304F"/>
                </a:solidFill>
                <a:latin typeface="Microsoft JhengHei"/>
              </a:rPr>
              <a:t>資料應用性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5936" y="3063240"/>
            <a:ext cx="228600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101 份決定書讀完再設計；三案卷宗包評測集；補三個資料缺口。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45936" y="4937760"/>
            <a:ext cx="2240280" cy="73152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45936" y="4937760"/>
            <a:ext cx="1680210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924544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07424" y="1691640"/>
            <a:ext cx="2286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400" b="1">
                <a:solidFill>
                  <a:srgbClr val="16304F"/>
                </a:solidFill>
                <a:latin typeface="Microsoft JhengHei"/>
              </a:rPr>
              <a:t>25%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7424" y="2560320"/>
            <a:ext cx="2286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16304F"/>
                </a:solidFill>
                <a:latin typeface="Microsoft JhengHei"/>
              </a:rPr>
              <a:t>主題契合度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7424" y="3063240"/>
            <a:ext cx="228600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四大功能逐一對應；輔助不取代；可擴到洗錢／空污。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07424" y="4937760"/>
            <a:ext cx="2240280" cy="73152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07424" y="4937760"/>
            <a:ext cx="140017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icrosoft JhengHei"/>
              </a:rPr>
              <a:t>謝謝，請指教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00" b="0">
                <a:solidFill>
                  <a:srgbClr val="C9D6E6"/>
                </a:solidFill>
                <a:latin typeface="Microsoft JhengHei"/>
              </a:rPr>
              <a:t>下一步：接補件 API・法規同步排程・擴到洗錢／空污案型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480560"/>
            <a:ext cx="45720" cy="6858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434840"/>
            <a:ext cx="9144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E6EDF5"/>
                </a:solidFill>
                <a:latin typeface="Microsoft JhengHei"/>
              </a:rPr>
              <a:t>Live Demo　http://100.20.156.38/　　GitHub　完整原始碼＋評測集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