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645920"/>
            <a:ext cx="5120640" cy="5120640"/>
          </a:xfrm>
          <a:prstGeom prst="ellipse">
            <a:avLst/>
          </a:prstGeom>
          <a:solidFill>
            <a:srgbClr val="1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2B544"/>
                </a:solidFill>
                <a:latin typeface="Microsoft JhengHei"/>
              </a:rPr>
              <a:t>2026 新北市 AI 智慧城市黑客松 ｜ 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600" b="1">
                <a:solidFill>
                  <a:srgbClr val="FFFFFF"/>
                </a:solidFill>
                <a:latin typeface="Microsoft JhengHei"/>
              </a:rPr>
              <a:t>訴願智審臺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100" b="0">
                <a:solidFill>
                  <a:srgbClr val="C9D6E6"/>
                </a:solidFill>
                <a:latin typeface="Microsoft JhengHei"/>
              </a:rPr>
              <a:t>訴願承辦人的 AI 助手：安心採用，越用越準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566160"/>
            <a:ext cx="45720" cy="6858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520439"/>
            <a:ext cx="9144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>
                <a:solidFill>
                  <a:srgbClr val="E6EDF5"/>
                </a:solidFill>
                <a:latin typeface="Microsoft JhengHei"/>
              </a:rPr>
              <a:t>AI 做完例行比對、列出證據；決定，留給承辦人。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9FB0C8"/>
                </a:solidFill>
                <a:latin typeface="Microsoft JhengHei"/>
              </a:rPr>
              <a:t>Live Demo　http://100.20.156.38/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01 ／ 破題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法制局願意用的四個前提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2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19" y="2194560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74519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輔助，不取代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08760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0" y="2194560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1874519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每一步都看得見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79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19" y="4526279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206240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修正有正式管道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840479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92240" y="4526279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206240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數據飛輪：法規庫／案件庫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02 ／ 支柱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輔助，不取代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3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5303520" cy="448056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37360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5B6573"/>
                </a:solidFill>
                <a:latin typeface="Microsoft JhengHei"/>
              </a:rPr>
              <a:t>✕  AI 只給一個結論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40280"/>
            <a:ext cx="4846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50" b="0">
                <a:solidFill>
                  <a:srgbClr val="5B6573"/>
                </a:solidFill>
                <a:latin typeface="Microsoft JhengHei"/>
              </a:rPr>
              <a:t>「本案應駁回。」——承辦人只能信或不信，無從審查。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88720" y="3931920"/>
            <a:ext cx="4206240" cy="1097280"/>
          </a:xfrm>
          <a:prstGeom prst="roundRect">
            <a:avLst>
              <a:gd name="adj" fmla="val 8000"/>
            </a:avLst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931920"/>
            <a:ext cx="420624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200" b="1">
                <a:solidFill>
                  <a:srgbClr val="5B6573"/>
                </a:solidFill>
                <a:latin typeface="Microsoft JhengHei"/>
              </a:rPr>
              <a:t>駁回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074920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8A93A0"/>
                </a:solidFill>
                <a:latin typeface="Microsoft JhengHei"/>
              </a:rPr>
              <a:t>黑盒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508760"/>
            <a:ext cx="5303520" cy="4480560"/>
          </a:xfrm>
          <a:prstGeom prst="roundRect">
            <a:avLst>
              <a:gd name="adj" fmla="val 6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737360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JhengHei"/>
              </a:rPr>
              <a:t>✓  AI 列出選項和證據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240280"/>
            <a:ext cx="48463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50" b="0">
                <a:solidFill>
                  <a:srgbClr val="E6EDF5"/>
                </a:solidFill>
                <a:latin typeface="Microsoft JhengHei"/>
              </a:rPr>
              <a:t>每個爭點附「認定＋依據＋可點回卷證的原文出處」，並說明採信任一方的法律後果；由承辦人決定。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3520440"/>
            <a:ext cx="4754880" cy="457200"/>
          </a:xfrm>
          <a:prstGeom prst="roundRect">
            <a:avLst>
              <a:gd name="adj" fmla="val 8000"/>
            </a:avLst>
          </a:prstGeom>
          <a:solidFill>
            <a:srgbClr val="244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3520440"/>
            <a:ext cx="4572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Microsoft JhengHei"/>
              </a:rPr>
              <a:t>爭點 1　採信機關　→ 送達證書 p.2「本人簽收」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60" y="4087368"/>
            <a:ext cx="4754880" cy="457200"/>
          </a:xfrm>
          <a:prstGeom prst="roundRect">
            <a:avLst>
              <a:gd name="adj" fmla="val 8000"/>
            </a:avLst>
          </a:prstGeom>
          <a:solidFill>
            <a:srgbClr val="244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4087368"/>
            <a:ext cx="4572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Microsoft JhengHei"/>
              </a:rPr>
              <a:t>爭點 2　採信訴願人 → 影片 00:14「未見拋擲」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37960" y="4654296"/>
            <a:ext cx="4754880" cy="457200"/>
          </a:xfrm>
          <a:prstGeom prst="roundRect">
            <a:avLst>
              <a:gd name="adj" fmla="val 8000"/>
            </a:avLst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654296"/>
            <a:ext cx="4572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承辦人確認或修改後，才寫進草稿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03 ／ 支柱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固定七個步驟，哪一步錯就修哪一步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4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64208"/>
            <a:ext cx="148132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50" b="1">
                <a:solidFill>
                  <a:srgbClr val="16304F"/>
                </a:solidFill>
                <a:latin typeface="Microsoft JhengHei"/>
              </a:rPr>
              <a:t>讀出基本資料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59" y="2212848"/>
            <a:ext cx="1115568" cy="365760"/>
          </a:xfrm>
          <a:prstGeom prst="roundRect">
            <a:avLst>
              <a:gd name="adj" fmla="val 30000"/>
            </a:avLst>
          </a:prstGeom>
          <a:solidFill>
            <a:srgbClr val="FF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2212848"/>
            <a:ext cx="111556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B36F00"/>
                </a:solidFill>
                <a:latin typeface="Microsoft JhengHei"/>
              </a:rPr>
              <a:t>問 AI 一次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03704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2F8F3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03704" y="1664208"/>
            <a:ext cx="148132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50" b="1">
                <a:solidFill>
                  <a:srgbClr val="16304F"/>
                </a:solidFill>
                <a:latin typeface="Microsoft JhengHei"/>
              </a:rPr>
              <a:t>期間・程序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86584" y="2212848"/>
            <a:ext cx="1115568" cy="365760"/>
          </a:xfrm>
          <a:prstGeom prst="roundRect">
            <a:avLst>
              <a:gd name="adj" fmla="val 30000"/>
            </a:avLst>
          </a:prstGeom>
          <a:solidFill>
            <a:srgbClr val="E0F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86584" y="2212848"/>
            <a:ext cx="111556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2E7D32"/>
                </a:solidFill>
                <a:latin typeface="Microsoft JhengHei"/>
              </a:rPr>
              <a:t>程式算，不問 AI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67328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67328" y="1664208"/>
            <a:ext cx="148132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50" b="1">
                <a:solidFill>
                  <a:srgbClr val="16304F"/>
                </a:solidFill>
                <a:latin typeface="Microsoft JhengHei"/>
              </a:rPr>
              <a:t>整理爭點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50208" y="2212848"/>
            <a:ext cx="1115568" cy="365760"/>
          </a:xfrm>
          <a:prstGeom prst="roundRect">
            <a:avLst>
              <a:gd name="adj" fmla="val 30000"/>
            </a:avLst>
          </a:prstGeom>
          <a:solidFill>
            <a:srgbClr val="FF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0208" y="2212848"/>
            <a:ext cx="111556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B36F00"/>
                </a:solidFill>
                <a:latin typeface="Microsoft JhengHei"/>
              </a:rPr>
              <a:t>問 AI 一次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30952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0952" y="1664208"/>
            <a:ext cx="148132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50" b="1">
                <a:solidFill>
                  <a:srgbClr val="16304F"/>
                </a:solidFill>
                <a:latin typeface="Microsoft JhengHei"/>
              </a:rPr>
              <a:t>找法規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13832" y="2212848"/>
            <a:ext cx="1115568" cy="365760"/>
          </a:xfrm>
          <a:prstGeom prst="roundRect">
            <a:avLst>
              <a:gd name="adj" fmla="val 30000"/>
            </a:avLst>
          </a:prstGeom>
          <a:solidFill>
            <a:srgbClr val="FF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13832" y="2212848"/>
            <a:ext cx="111556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B36F00"/>
                </a:solidFill>
                <a:latin typeface="Microsoft JhengHei"/>
              </a:rPr>
              <a:t>查知識庫＋問一次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94576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94576" y="1664208"/>
            <a:ext cx="148132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50" b="1">
                <a:solidFill>
                  <a:srgbClr val="16304F"/>
                </a:solidFill>
                <a:latin typeface="Microsoft JhengHei"/>
              </a:rPr>
              <a:t>找相似案例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77456" y="2212848"/>
            <a:ext cx="1115568" cy="365760"/>
          </a:xfrm>
          <a:prstGeom prst="roundRect">
            <a:avLst>
              <a:gd name="adj" fmla="val 30000"/>
            </a:avLst>
          </a:prstGeom>
          <a:solidFill>
            <a:srgbClr val="FF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77456" y="2212848"/>
            <a:ext cx="111556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B36F00"/>
                </a:solidFill>
                <a:latin typeface="Microsoft JhengHei"/>
              </a:rPr>
              <a:t>查知識庫＋問一次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58200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58200" y="1664208"/>
            <a:ext cx="148132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50" b="1">
                <a:solidFill>
                  <a:srgbClr val="16304F"/>
                </a:solidFill>
                <a:latin typeface="Microsoft JhengHei"/>
              </a:rPr>
              <a:t>寫草稿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41080" y="2212848"/>
            <a:ext cx="1115568" cy="365760"/>
          </a:xfrm>
          <a:prstGeom prst="roundRect">
            <a:avLst>
              <a:gd name="adj" fmla="val 30000"/>
            </a:avLst>
          </a:prstGeom>
          <a:solidFill>
            <a:srgbClr val="FF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1080" y="2212848"/>
            <a:ext cx="111556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B36F00"/>
                </a:solidFill>
                <a:latin typeface="Microsoft JhengHei"/>
              </a:rPr>
              <a:t>問 AI 一次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021824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21824" y="1664208"/>
            <a:ext cx="148132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50" b="1">
                <a:solidFill>
                  <a:srgbClr val="16304F"/>
                </a:solidFill>
                <a:latin typeface="Microsoft JhengHei"/>
              </a:rPr>
              <a:t>承辦人修正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204703" y="2212848"/>
            <a:ext cx="1115568" cy="365760"/>
          </a:xfrm>
          <a:prstGeom prst="roundRect">
            <a:avLst>
              <a:gd name="adj" fmla="val 30000"/>
            </a:avLst>
          </a:prstGeom>
          <a:solidFill>
            <a:srgbClr val="FF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04703" y="2212848"/>
            <a:ext cx="111556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B36F00"/>
                </a:solidFill>
                <a:latin typeface="Microsoft JhengHei"/>
              </a:rPr>
              <a:t>只重算受影響步驟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3200400"/>
            <a:ext cx="2103120" cy="1463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600" b="1">
                <a:solidFill>
                  <a:srgbClr val="16304F"/>
                </a:solidFill>
                <a:latin typeface="Microsoft JhengHe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3977639"/>
            <a:ext cx="25603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5B6573"/>
                </a:solidFill>
                <a:latin typeface="Microsoft JhengHei"/>
              </a:rPr>
              <a:t>次問 AI・約 2 分鐘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291840"/>
            <a:ext cx="6035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334455"/>
                </a:solidFill>
                <a:latin typeface="Microsoft JhengHei"/>
              </a:rPr>
              <a:t>每一步的結果都保存，每個結論都能點回卷證出處和法條；步驟固定，所以錯了可以只修一步，也能拿考題來驗證。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4297680"/>
            <a:ext cx="60350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2E7D32"/>
                </a:solidFill>
                <a:latin typeface="Microsoft JhengHei"/>
              </a:rPr>
              <a:t>綠色那一步不問 AI：30 日期間、訴願法第 77 條的不受理事由，都由程式計算。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04 ／ 支柱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承辦人的修正意見，系統逐項處理、逐項回覆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5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260604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59" y="1691640"/>
            <a:ext cx="411480" cy="4114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1945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6304F"/>
                </a:solidFill>
                <a:latin typeface="Microsoft JhengHei"/>
              </a:rPr>
              <a:t>承辦人提出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2697480"/>
            <a:ext cx="228600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334455"/>
                </a:solidFill>
                <a:latin typeface="Microsoft JhengHei"/>
              </a:rPr>
              <a:t>「爭點 2 改採信訴願人，因為影片 00:14 看不到拋擲」
可多點、可附卷證依據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1508760"/>
            <a:ext cx="260604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84448" y="1691640"/>
            <a:ext cx="411480" cy="4114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21945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6304F"/>
                </a:solidFill>
                <a:latin typeface="Microsoft JhengHei"/>
              </a:rPr>
              <a:t>系統判斷牽動哪幾步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2697480"/>
            <a:ext cx="228600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334455"/>
                </a:solidFill>
                <a:latin typeface="Microsoft JhengHei"/>
              </a:rPr>
              <a:t>爭點 → 法規 → 相似案例 → 草稿
只重算這幾步，其他不動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508760"/>
            <a:ext cx="260604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45936" y="1691640"/>
            <a:ext cx="411480" cy="4114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6304F"/>
                </a:solidFill>
                <a:latin typeface="Microsoft JhengHei"/>
              </a:rPr>
              <a:t>先看改前改後，確認才生效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2697480"/>
            <a:ext cx="228600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334455"/>
                </a:solidFill>
                <a:latin typeface="Microsoft JhengHei"/>
              </a:rPr>
              <a:t>畫面上直接看到會改成什麼樣
取消則原樣不動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24544" y="1508760"/>
            <a:ext cx="2606040" cy="3291840"/>
          </a:xfrm>
          <a:prstGeom prst="roundRect">
            <a:avLst>
              <a:gd name="adj" fmla="val 8000"/>
            </a:avLst>
          </a:prstGeom>
          <a:solidFill>
            <a:srgbClr val="FFF8EA"/>
          </a:solidFill>
          <a:ln w="19050">
            <a:solidFill>
              <a:srgbClr val="D98E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107424" y="1691640"/>
            <a:ext cx="411480" cy="4114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07424" y="21945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6304F"/>
                </a:solidFill>
                <a:latin typeface="Microsoft JhengHei"/>
              </a:rPr>
              <a:t>逐項回覆採納與否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07424" y="2697480"/>
            <a:ext cx="228600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334455"/>
                </a:solidFill>
                <a:latin typeface="Microsoft JhengHei"/>
              </a:rPr>
              <a:t>採納／部分採納／無法採納
每一項附證據，留下紀錄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12064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512064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138927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問答助手只根據法條、決定書和本案卷證回答，查不到就說查不到；查到的內容可以直接變成修正意見。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05 ／ 支柱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數據飛輪：公開的只有決定書，卷證要自己累積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6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5029200" cy="26517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45920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16304F"/>
                </a:solidFill>
                <a:latin typeface="Microsoft JhengHei"/>
              </a:rPr>
              <a:t>為什麼輸入拿不到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057400"/>
            <a:ext cx="457200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334455"/>
                </a:solidFill>
                <a:latin typeface="Microsoft JhengHei"/>
              </a:rPr>
              <a:t>・訴願法 §58 III／IV：答辯書只存在於機關、受理機關卷內、訴願人手上，沒有公開機制
・訴願法 §49、§75 II：卷宗閱覽限訴願人、參加人、代理人
・所以決定書到處都是、答辯書一份難求——這是制度設計的結果，不是錯覺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343400"/>
            <a:ext cx="5029200" cy="1143000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343400"/>
            <a:ext cx="64008" cy="1143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370832"/>
            <a:ext cx="475488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334455"/>
                </a:solidFill>
                <a:latin typeface="Microsoft JhengHei"/>
              </a:rPr>
              <a:t>案件進行中補件也一樣：跟助手說「補這份」，系統只辨識新檔、只重算受影響的步驟，畫面立即更新</a:t>
            </a:r>
          </a:p>
        </p:txBody>
      </p:sp>
      <p:sp>
        <p:nvSpPr>
          <p:cNvPr id="15" name="Oval 14"/>
          <p:cNvSpPr/>
          <p:nvPr/>
        </p:nvSpPr>
        <p:spPr>
          <a:xfrm>
            <a:off x="7360919" y="2103120"/>
            <a:ext cx="2834640" cy="2834640"/>
          </a:xfrm>
          <a:prstGeom prst="ellipse">
            <a:avLst/>
          </a:prstGeom>
          <a:noFill/>
          <a:ln w="50800">
            <a:solidFill>
              <a:srgbClr val="D98E0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3246120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D98E04"/>
                </a:solidFill>
                <a:latin typeface="Microsoft JhengHei"/>
              </a:rPr>
              <a:t>越用越準</a:t>
            </a:r>
          </a:p>
        </p:txBody>
      </p:sp>
      <p:sp>
        <p:nvSpPr>
          <p:cNvPr id="17" name="Oval 16"/>
          <p:cNvSpPr/>
          <p:nvPr/>
        </p:nvSpPr>
        <p:spPr>
          <a:xfrm>
            <a:off x="8366760" y="1691639"/>
            <a:ext cx="822960" cy="82296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辦案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868679"/>
            <a:ext cx="20116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50" b="0">
                <a:solidFill>
                  <a:srgbClr val="334455"/>
                </a:solidFill>
                <a:latin typeface="Microsoft JhengHei"/>
              </a:rPr>
              <a:t>承辦人上傳卷宗、答辯書</a:t>
            </a:r>
          </a:p>
        </p:txBody>
      </p:sp>
      <p:sp>
        <p:nvSpPr>
          <p:cNvPr id="19" name="Oval 18"/>
          <p:cNvSpPr/>
          <p:nvPr/>
        </p:nvSpPr>
        <p:spPr>
          <a:xfrm>
            <a:off x="9714711" y="2670984"/>
            <a:ext cx="822960" cy="82296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分類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76962" y="2543042"/>
            <a:ext cx="20116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27 類文件，自動命名</a:t>
            </a:r>
          </a:p>
        </p:txBody>
      </p:sp>
      <p:sp>
        <p:nvSpPr>
          <p:cNvPr id="21" name="Oval 20"/>
          <p:cNvSpPr/>
          <p:nvPr/>
        </p:nvSpPr>
        <p:spPr>
          <a:xfrm>
            <a:off x="9199839" y="4255595"/>
            <a:ext cx="822960" cy="82296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分析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96697" y="5252217"/>
            <a:ext cx="20116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查法規庫、找相似案例、寫草稿</a:t>
            </a:r>
          </a:p>
        </p:txBody>
      </p:sp>
      <p:sp>
        <p:nvSpPr>
          <p:cNvPr id="23" name="Oval 22"/>
          <p:cNvSpPr/>
          <p:nvPr/>
        </p:nvSpPr>
        <p:spPr>
          <a:xfrm>
            <a:off x="7533680" y="4255595"/>
            <a:ext cx="822960" cy="82296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修正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8102" y="5252217"/>
            <a:ext cx="20116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50" b="0">
                <a:solidFill>
                  <a:srgbClr val="334455"/>
                </a:solidFill>
                <a:latin typeface="Microsoft JhengHei"/>
              </a:rPr>
              <a:t>承辦人確認或修改</a:t>
            </a:r>
          </a:p>
        </p:txBody>
      </p:sp>
      <p:sp>
        <p:nvSpPr>
          <p:cNvPr id="25" name="Oval 24"/>
          <p:cNvSpPr/>
          <p:nvPr/>
        </p:nvSpPr>
        <p:spPr>
          <a:xfrm>
            <a:off x="7018808" y="2670984"/>
            <a:ext cx="822960" cy="82296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存入案件庫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67837" y="2543042"/>
            <a:ext cx="20116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50" b="0">
                <a:solidFill>
                  <a:srgbClr val="334455"/>
                </a:solidFill>
                <a:latin typeface="Microsoft JhengHei"/>
              </a:rPr>
              <a:t>下一案的相似案例＋法規版本更新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06 ／ 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承辦人只做五件事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7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17319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上傳卷宗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訴願書、答辯書、卷證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30168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2928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自動分類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2928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27 類・自動命名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68696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43016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5776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看五項結果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基本資料・爭點・法規・相似案例・草稿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81544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55864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78624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提出修正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78624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「爭點 2 改採信訴願人」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94392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268711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91472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確認送審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91472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草稿 v1／v2 可回溯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示範案例：廢棄物清理法亂丟煙蒂案，20 頁卷宗＋影片 — 90 秒分類、2 分鐘出五項結果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07 ／ 附帶的便利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卷宗不必先整理，系統自己分類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8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4754880" cy="29718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91640"/>
            <a:ext cx="43891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5B6573"/>
                </a:solidFill>
                <a:latin typeface="Microsoft JhengHei"/>
              </a:rPr>
              <a:t>IMG_3985.jpg
scan_0001.pdf
文件(2).pdf
DASHCAM_0627.mp4
掃描全卷.pdf（20 頁）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651760"/>
            <a:ext cx="11887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4000" b="1">
                <a:solidFill>
                  <a:srgbClr val="D98E04"/>
                </a:solidFill>
                <a:latin typeface="Microsoft Jheng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1508760"/>
            <a:ext cx="4754880" cy="2971800"/>
          </a:xfrm>
          <a:prstGeom prst="roundRect">
            <a:avLst>
              <a:gd name="adj" fmla="val 8000"/>
            </a:avLst>
          </a:prstGeom>
          <a:solidFill>
            <a:srgbClr val="FFF8EA"/>
          </a:solidFill>
          <a:ln w="19050">
            <a:solidFill>
              <a:srgbClr val="D98E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691640"/>
            <a:ext cx="43891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0F2038"/>
                </a:solidFill>
                <a:latin typeface="Microsoft JhengHei"/>
              </a:rPr>
              <a:t>01- 訴願書_114-09-22
07- 裁處書_114-09-16
11- 送達證書_114-09-18
14- 採證照片 ×3
19- 採證影片 00:12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27 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文件類型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04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20 / 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亂檔名 20 份全部分對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90 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20 份含影片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66928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66928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68756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承辦人不必先整理檔名或格式，系統看內容分類；分錯了在畫面上改，會留下紀錄。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08 ／ AWS 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一台 EC2 ＋ Bedrock、S3、DynamoDB，全在允許清單內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9 / 14</a:t>
            </a:r>
          </a:p>
        </p:txBody>
      </p:sp>
      <p:pic>
        <p:nvPicPr>
          <p:cNvPr id="9" name="Picture 8" descr="aws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417320"/>
            <a:ext cx="10424160" cy="489482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09 ／ 可信度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AI 常見的四種錯誤，各有一道程式檢查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10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508760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捏造條號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11 部法規逐條比對；查無就標「未收錄」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270248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7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引用的原文對不上卷證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每句引文回查原文；查不到就標示為未驗證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031736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引到過期法規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行為時／裁處時／決定時三個時點比對，修正過就提示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24544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793224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1704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誤判程序結論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07424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不受理／駁回／撤銷由程式決定，AI 只寫理由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10 ／ 資料應用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先把 101 份決定書讀完，才決定系統怎麼設計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11 / 14</a:t>
            </a:r>
          </a:p>
        </p:txBody>
      </p:sp>
      <p:sp>
        <p:nvSpPr>
          <p:cNvPr id="9" name="Block Arc 8"/>
          <p:cNvSpPr/>
          <p:nvPr/>
        </p:nvSpPr>
        <p:spPr>
          <a:xfrm>
            <a:off x="822960" y="1600200"/>
            <a:ext cx="3566160" cy="3566160"/>
          </a:xfrm>
          <a:prstGeom prst="blockArc">
            <a:avLst>
              <a:gd name="adj1" fmla="val -9000000"/>
              <a:gd name="adj2" fmla="val 15840000"/>
              <a:gd name="adj3" fmla="val 2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Block Arc 9"/>
          <p:cNvSpPr/>
          <p:nvPr/>
        </p:nvSpPr>
        <p:spPr>
          <a:xfrm>
            <a:off x="822960" y="1600200"/>
            <a:ext cx="3566160" cy="3566160"/>
          </a:xfrm>
          <a:prstGeom prst="blockArc">
            <a:avLst>
              <a:gd name="adj1" fmla="val 15840000"/>
              <a:gd name="adj2" fmla="val 21240000"/>
              <a:gd name="adj3" fmla="val 20000"/>
            </a:avLst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Block Arc 10"/>
          <p:cNvSpPr/>
          <p:nvPr/>
        </p:nvSpPr>
        <p:spPr>
          <a:xfrm>
            <a:off x="822960" y="1600200"/>
            <a:ext cx="3566160" cy="3566160"/>
          </a:xfrm>
          <a:prstGeom prst="blockArc">
            <a:avLst>
              <a:gd name="adj1" fmla="val 21240000"/>
              <a:gd name="adj2" fmla="val 26639999"/>
              <a:gd name="adj3" fmla="val 2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35661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4400" b="1">
                <a:solidFill>
                  <a:srgbClr val="16304F"/>
                </a:solidFill>
                <a:latin typeface="Microsoft JhengHei"/>
              </a:rPr>
              <a:t>69%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2044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0">
                <a:solidFill>
                  <a:srgbClr val="5B6573"/>
                </a:solidFill>
                <a:latin typeface="Microsoft JhengHei"/>
              </a:rPr>
              <a:t>不受理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4048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8A93A0"/>
                </a:solidFill>
                <a:latin typeface="Microsoft JhengHei"/>
              </a:rPr>
              <a:t>駁回 15%・撤銷 15%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1737360"/>
            <a:ext cx="6675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16304F"/>
                </a:solidFill>
                <a:latin typeface="Microsoft JhengHei"/>
              </a:rPr>
              <a:t>七成案子在程序上就結束，不進入實質審理——程序判斷是關鍵。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2880360"/>
            <a:ext cx="66751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5B6573"/>
                </a:solidFill>
                <a:latin typeface="Microsoft JhengHei"/>
              </a:rPr>
              <a:t>所以期間計算由程式負責，不交給 AI；不受理案的草稿不寫實質認定。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402336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4050791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法規 11 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6048" y="4480560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5B6573"/>
                </a:solidFill>
                <a:latin typeface="Microsoft JhengHei"/>
              </a:rPr>
              <a:t>逐條比對＋知識庫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402336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4050791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判解 19・函釋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6328" y="4480560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5B6573"/>
                </a:solidFill>
                <a:latin typeface="Microsoft JhengHei"/>
              </a:rPr>
              <a:t>進知識庫並標註類型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26880" y="402336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7" y="4050791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自行補 3 個缺口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36607" y="4480560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5B6573"/>
                </a:solidFill>
                <a:latin typeface="Microsoft JhengHei"/>
              </a:rPr>
              <a:t>政資法・洗錢判準・空污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10 ／ 資料應用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公開資料沒有答辯書和卷宗——我們自己做了三套考題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12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69164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CASE 01 ／ 建築法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01168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16304F"/>
                </a:solidFill>
                <a:latin typeface="Microsoft JhengHei"/>
              </a:rPr>
              <a:t>訴願人遲了 7 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7" y="2606040"/>
            <a:ext cx="1188720" cy="41148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2606040"/>
            <a:ext cx="11887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不受理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" y="3154680"/>
            <a:ext cx="310896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卷宗塞滿實質理由和照片當干擾；正確答案仍是程序不受理，不能寫任何實質認定。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155448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169164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CASE 02 ／ 廢清法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01168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16304F"/>
                </a:solidFill>
                <a:latin typeface="Microsoft JhengHei"/>
              </a:rPr>
              <a:t>亂丟煙蒂，說沒丟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26280" y="2606040"/>
            <a:ext cx="1188720" cy="41148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2606040"/>
            <a:ext cx="11887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駁回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3154680"/>
            <a:ext cx="310896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影片 00:14 拋擲、00:19 煙蒂還在；訴願書寫的收受日和送達證書差 2 天，要以證書為準。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0144" y="155448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11312" y="169164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CASE 03 ／ 建築法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201168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16304F"/>
                </a:solidFill>
                <a:latin typeface="Microsoft JhengHei"/>
              </a:rPr>
              <a:t>政府遲了 26 天才罰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11312" y="2606040"/>
            <a:ext cx="1188720" cy="41148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2606040"/>
            <a:ext cx="11887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撤銷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3154680"/>
            <a:ext cx="310896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簽證不實證據很強，但三年裁處權時效已過；答辯書迴避不答，系統必須自行從卷內算出時效。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每案 30 頁真實格式卷宗（掃描、手寫、系統截圖、影片）；對應決定書從知識庫排除，系統不能「認出答案」。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11 ／ 完成度與評分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今天線上能做到哪裡，對到四個評分項目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13 / 14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1691639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55448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卷證分類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029967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219456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5740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五項分析結果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53288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697479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56032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修正 → 確認 → 局部重算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3580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20040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06324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法規庫同步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53872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080" y="370332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56616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畫面全部連到線上系統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4164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0080" y="420624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06908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自動化測試 52 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54456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4709160"/>
            <a:ext cx="228600" cy="228600"/>
          </a:xfrm>
          <a:prstGeom prst="ellipse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57200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補件辨識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04748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0080" y="5212080"/>
            <a:ext cx="228600" cy="228600"/>
          </a:xfrm>
          <a:prstGeom prst="ellipse">
            <a:avLst/>
          </a:prstGeom>
          <a:solidFill>
            <a:srgbClr val="C5C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507492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登入／HTTPS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55040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943600" y="15544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08192" y="1664207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20%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08192" y="22860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技術可行性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08192" y="26334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允許清單內；在競賽呼叫頻率限制下固定流程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778240" y="15544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42832" y="1664207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25%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42832" y="22860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完成度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42832" y="26334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Live Demo 走完整流程；52 個測試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0" y="33832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08192" y="3493008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30%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08192" y="41148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資料應用性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08192" y="44622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101 份讀完再設計；三套考題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778240" y="33832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42832" y="3493008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25%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42832" y="41148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主題契合度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42832" y="44622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四大功能對應；輔助不取代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Live Demo　http://100.20.156.38/　— 所有畫面都是線上實際執行的結果，不是預錄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645920"/>
            <a:ext cx="5120640" cy="5120640"/>
          </a:xfrm>
          <a:prstGeom prst="ellipse">
            <a:avLst/>
          </a:prstGeom>
          <a:solidFill>
            <a:srgbClr val="1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2B544"/>
                </a:solidFill>
                <a:latin typeface="Microsoft JhengHei"/>
              </a:rPr>
              <a:t>2026 新北市 AI 智慧城市黑客松 ｜ 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Microsoft JhengHei"/>
              </a:rPr>
              <a:t>謝謝，請指教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100" b="0">
                <a:solidFill>
                  <a:srgbClr val="C9D6E6"/>
                </a:solidFill>
                <a:latin typeface="Microsoft JhengHei"/>
              </a:rPr>
              <a:t>下一步：補件功能完成・法規自動更新・擴到洗錢防制與空污案件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480560"/>
            <a:ext cx="45720" cy="6858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434840"/>
            <a:ext cx="9144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>
                <a:solidFill>
                  <a:srgbClr val="E6EDF5"/>
                </a:solidFill>
                <a:latin typeface="Microsoft JhengHei"/>
              </a:rPr>
              <a:t>Live Demo　http://100.20.156.38/　　GitHub　完整原始碼＋三套考題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