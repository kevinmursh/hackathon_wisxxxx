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AI，證據留給眼睛，判斷留給承辦人。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E6EDF5"/>
                </a:solidFill>
                <a:latin typeface="Microsoft JhengHei"/>
              </a:rPr>
              <a:t>WISXXXX 親友見面會　｜　Kevin ／ 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數據飛輪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數據飛輪：決定書人人有，卷證只能自己攢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029200" cy="26517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4592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16304F"/>
                </a:solidFill>
                <a:latin typeface="Microsoft JhengHei"/>
              </a:rPr>
              <a:t>為什麼只能自己累積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45720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・訴願法 §58 III／IV：答辯書只存在於機關、受理機關卷內、訴願人手上，沒有公開機制
・訴願法 §49、§75 II：卷宗閱覽限訴願人、參加人、代理人
・決定書到處都是，答辯書一份難求——制度使然。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5029200" cy="1143000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343400"/>
            <a:ext cx="64008" cy="1143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70832"/>
            <a:ext cx="47548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中途補件走同一條路：一句「補這份」，只認新檔、只重算牽動的步驟。</a:t>
            </a:r>
          </a:p>
        </p:txBody>
      </p:sp>
      <p:sp>
        <p:nvSpPr>
          <p:cNvPr id="15" name="Oval 14"/>
          <p:cNvSpPr/>
          <p:nvPr/>
        </p:nvSpPr>
        <p:spPr>
          <a:xfrm>
            <a:off x="7360919" y="2103120"/>
            <a:ext cx="2834640" cy="2834640"/>
          </a:xfrm>
          <a:prstGeom prst="ellipse">
            <a:avLst/>
          </a:prstGeom>
          <a:noFill/>
          <a:ln w="50800">
            <a:solidFill>
              <a:srgbClr val="D98E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24612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D98E04"/>
                </a:solidFill>
                <a:latin typeface="Microsoft JhengHei"/>
              </a:rPr>
              <a:t>越用越準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1691639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辦案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868679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50" b="0">
                <a:solidFill>
                  <a:srgbClr val="334455"/>
                </a:solidFill>
                <a:latin typeface="Microsoft JhengHei"/>
              </a:rPr>
              <a:t>承辦人上傳卷宗、答辯書</a:t>
            </a:r>
          </a:p>
        </p:txBody>
      </p:sp>
      <p:sp>
        <p:nvSpPr>
          <p:cNvPr id="19" name="Oval 18"/>
          <p:cNvSpPr/>
          <p:nvPr/>
        </p:nvSpPr>
        <p:spPr>
          <a:xfrm>
            <a:off x="9714711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分類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6962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27 類文件，自動命名</a:t>
            </a:r>
          </a:p>
        </p:txBody>
      </p:sp>
      <p:sp>
        <p:nvSpPr>
          <p:cNvPr id="21" name="Oval 20"/>
          <p:cNvSpPr/>
          <p:nvPr/>
        </p:nvSpPr>
        <p:spPr>
          <a:xfrm>
            <a:off x="9199839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6697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查法規庫、找相似案例、寫草稿</a:t>
            </a:r>
          </a:p>
        </p:txBody>
      </p:sp>
      <p:sp>
        <p:nvSpPr>
          <p:cNvPr id="23" name="Oval 22"/>
          <p:cNvSpPr/>
          <p:nvPr/>
        </p:nvSpPr>
        <p:spPr>
          <a:xfrm>
            <a:off x="7533680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8102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承辦人確認或修改</a:t>
            </a:r>
          </a:p>
        </p:txBody>
      </p:sp>
      <p:sp>
        <p:nvSpPr>
          <p:cNvPr id="25" name="Oval 24"/>
          <p:cNvSpPr/>
          <p:nvPr/>
        </p:nvSpPr>
        <p:spPr>
          <a:xfrm>
            <a:off x="7018808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入庫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67837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下一案的相似案例＋法規版本更新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10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38404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93A0"/>
                </a:solidFill>
                <a:latin typeface="Microsoft JhengHei"/>
              </a:rPr>
              <a:t>全部在競賽允許清單內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AI 會犯的四種錯，四道關卡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捏造條號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11 部法規逐條比對；查無就標「未收錄」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70248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7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引文對不上卷證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每句引文回查原文；查不到就標示為未驗證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1736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引到過期法規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行為時／裁處時／決定時三個時點比對，修正過就提示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93224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誤判程序結論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不受理／駁回／撤銷由程式決定，AI 只寫理由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先把 101 份決定書讀完，才決定系統怎麼設計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10</a:t>
            </a:r>
          </a:p>
        </p:txBody>
      </p:sp>
      <p:sp>
        <p:nvSpPr>
          <p:cNvPr id="9" name="Block Arc 8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-9000000"/>
              <a:gd name="adj2" fmla="val 15840000"/>
              <a:gd name="adj3" fmla="val 2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lock Arc 9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15840000"/>
              <a:gd name="adj2" fmla="val 21240000"/>
              <a:gd name="adj3" fmla="val 20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lock Arc 10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21240000"/>
              <a:gd name="adj2" fmla="val 26639999"/>
              <a:gd name="adj3" fmla="val 2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400" b="1">
                <a:solidFill>
                  <a:srgbClr val="16304F"/>
                </a:solidFill>
                <a:latin typeface="Microsoft JhengHei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5B6573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駁回 15%・撤銷 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737360"/>
            <a:ext cx="6675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七成案子在程序就結束了。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880360"/>
            <a:ext cx="6675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5B6573"/>
                </a:solidFill>
                <a:latin typeface="Microsoft JhengHei"/>
              </a:rPr>
              <a:t>所以期間交給程式算；不受理的案子，草稿一個字都不碰實體。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法規 11 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逐條比對＋知識庫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判解 19・函釋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進知識庫並標註類型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7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自行補 3 個缺口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7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政資法・洗錢判準・空污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07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拿不到答辯書和卷宗，就自己出三套考題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8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01 ／ 建築法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訴願人遲了 7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7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卷宗塞滿實質理由和照片當干擾；正確答案仍是程序不受理，不能寫任何實質認定。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02 ／ 廢清法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亂丟煙蒂，說沒丟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駁回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影片 00:14 拋擲、00:19 煙蒂還在；訴願書寫的收受日和送達證書差 2 天，要以證書為準。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03 ／ 建築法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政府遲了 26 天才罰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撤銷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簽證不實證據很強，但三年裁處權時效已過；答辯書迴避不答，系統必須自行從卷內算出時效。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每案 30 頁真實格式卷宗（掃描、手寫、系統截圖、影片）；對應決定書從知識庫排除，系統不能「認出答案」。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08 ／ 完成度與評分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今天做到哪裡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9 / 10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69163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544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卷證分類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29967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19456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574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五項分析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328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69747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603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修正 → 確認 → 局部重算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358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0040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法規庫同步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3872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70332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56616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畫面全部連到線上系統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4164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420624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0690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自動化測試 52 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4456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4709160"/>
            <a:ext cx="228600" cy="228600"/>
          </a:xfrm>
          <a:prstGeom prst="ellipse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補件辨識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474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212080"/>
            <a:ext cx="228600" cy="228600"/>
          </a:xfrm>
          <a:prstGeom prst="ellipse">
            <a:avLst/>
          </a:prstGeom>
          <a:solidFill>
            <a:srgbClr val="C5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749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登入／HTTPS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5504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技術可行性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允許清單內；呼叫頻率限制下固定流程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完成度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Live Demo 走完整流程；52 個測試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30%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0819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資料應用性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819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101 份讀完再設計；三套考題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7824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283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主題契合度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283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四大功能對應；輔助不取代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Live Demo　http://100.20.156.38/　— 所有畫面都是線上現跑的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接下來：補件、法規自動更新、洗錢與空污案型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805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484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Live Demo　http://100.20.156.38/　　GitHub　完整原始碼＋三套考題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