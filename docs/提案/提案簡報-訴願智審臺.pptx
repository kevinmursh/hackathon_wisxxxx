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FFD27A"/>
                </a:solidFill>
                <a:latin typeface="Microsoft JhengHei"/>
              </a:rPr>
              <a:t>新北市訴願案件審理作業流程之 AI 輔助應用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DFE6F0"/>
                </a:solidFill>
                <a:latin typeface="Microsoft JhengHei"/>
              </a:rPr>
              <a:t>•  2026 新北市 AI 智慧城市黑客松｜法制局組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FE6F0"/>
                </a:solidFill>
                <a:latin typeface="Microsoft JhengHei"/>
              </a:rPr>
              <a:t>•  Live Demo：http://100.20.156.38/　（AWS us-west-2）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FE6F0"/>
                </a:solidFill>
                <a:latin typeface="Microsoft JhengHei"/>
              </a:rPr>
              <a:t>•  AI 不替承辦人決定——把例行比對做完、把證據攤開，每個結論都能點回卷證原句與真實條號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FB0C8"/>
                </a:solidFill>
                <a:latin typeface="Microsoft JhengHei"/>
              </a:rP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破題：法制局的三個困難，我們用三個設計回答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2/15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444444"/>
                </a:solidFill>
                <a:latin typeface="Microsoft JhengHei"/>
              </a:rPr>
              <a:t>訴願案量 110 年 1,238 件 → 114 年 1,566 件（+26%），洗錢防制法・廢棄物清理法・空氣污染防制法為最大宗；辦理期限不變、人力不變。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2468880" cy="3474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24688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JhengHei"/>
              </a:rPr>
              <a:t>痛點（命題文件）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828800"/>
            <a:ext cx="2468880" cy="3474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828800"/>
            <a:ext cx="24688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JhengHei"/>
              </a:rPr>
              <a:t>現況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1828800"/>
            <a:ext cx="5760720" cy="34747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828800"/>
            <a:ext cx="576072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Microsoft JhengHei"/>
              </a:rPr>
              <a:t>我們的設計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① 同類型案件分散撰擬，效率低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2402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每案都要人工讀卷、比對、從頭寫決定書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2240280"/>
            <a:ext cx="5760720" cy="1280160"/>
          </a:xfrm>
          <a:prstGeom prst="rect">
            <a:avLst/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720" y="2240280"/>
            <a:ext cx="54864" cy="12801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2258568"/>
            <a:ext cx="557784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JhengHei"/>
              </a:rPr>
              <a:t>固定五步驟 pipeline：上傳卷宗 → 自動歸戶 → 欄位／期間 → 爭點 → 法規 → 相似案例 → 草稿。程序性判斷（30 日期間、八款不受理）用程式算，不靠模型猜；每步輸出可單獨重跑。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118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② 法規與函釋更新仰賴人工檢索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118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漏查最新函釋、誤引已修正條文 → 決定書被法院撤銷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3611880"/>
            <a:ext cx="5760720" cy="1280160"/>
          </a:xfrm>
          <a:prstGeom prst="rect">
            <a:avLst/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60720" y="3611880"/>
            <a:ext cx="54864" cy="12801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70448" y="3630168"/>
            <a:ext cx="557784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JhengHei"/>
              </a:rPr>
              <a:t>法規庫「三時點」版本比對（行為時／裁處時／決定時），每條引用標示版本狀態；一鍵同步全國法規資料庫；草稿內所有條號程式查核，查無者標「未收錄」不放行。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834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③ 缺乏標準化輔助工具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983480"/>
            <a:ext cx="24688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各承辦人各自為政，見解不一致，AI 給一個答案又難以採信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0" y="4983480"/>
            <a:ext cx="5760720" cy="1280160"/>
          </a:xfrm>
          <a:prstGeom prst="rect">
            <a:avLst/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760720" y="4983480"/>
            <a:ext cx="54864" cy="128016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0448" y="5001768"/>
            <a:ext cx="5577840" cy="124358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Microsoft JhengHei"/>
              </a:rPr>
              <a:t>承辦人工作台：五分頁固定結構＋卷宗瀏覽器並排；助手是唯一修改入口——自然語言 → 所見即所得提案卡（修改前→修改後＋六步影響範圍）→ 承辦人確認 → 局部重跑 → 逐項回覆採納與否。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定位：輔助，不是取代——這是採用與否的門檻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3/15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AI 只給一個答案，法制局第一個反應會是「那承辦人幹嘛」。我們給的是「選項 ＋ 各自的法律後果與風險」，決定權留在承辦人。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每個爭點的「AI 認定」都附一句依據＋卷證錨點：文字 PDF 反白到字元、掃描件開頁圖、影片跳到秒數。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判定列明示「訴願駁回／不受理／撤銷」與適用條款、風險等級、未驗證引用清單；承辦人一眼看出 AI 為何這樣寫。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問答助手「有據才答、查無就說查無」：7 個唯讀工具（查法條、查判解、查決定書、查本案卷證、算期間），查到的東西一鍵轉成修改提案。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所有修改留稽核軌跡：誰改、改了什麼、AI 原判定是什麼、採納或不採納的理由。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715000"/>
            <a:ext cx="54864" cy="54864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87568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  <a:latin typeface="Microsoft JhengHei"/>
              </a:rPr>
              <a:t>這不是包裝——訴願法 §58 II 原處分機關自我審查、審議規則對委員會獨立判斷的要求，都需要人做最後決定。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承辦人的操作流程（Live Demo 路徑）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4/15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2103120" cy="3840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71600"/>
            <a:ext cx="210312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55448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JhengHei"/>
              </a:rPr>
              <a:t>1 上傳卷宗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057400"/>
            <a:ext cx="19202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一個合併 PDF 或一批混雜檔案（掃描、手寫、照片、影片、zip）；亂檔名也行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52928" y="1371600"/>
            <a:ext cx="2103120" cy="3840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52928" y="1371600"/>
            <a:ext cx="210312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155448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JhengHei"/>
              </a:rPr>
              <a:t>2 自動歸戶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4368" y="2057400"/>
            <a:ext cx="19202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27 種文件類型・5 種來源；標準檔名「11-裁處書送達證書_114-09-18.jpg」；承辦人就地修正，寫稽核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65776" y="1371600"/>
            <a:ext cx="2103120" cy="3840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65776" y="1371600"/>
            <a:ext cx="210312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5448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JhengHei"/>
              </a:rPr>
              <a:t>3 五分頁分析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2057400"/>
            <a:ext cx="19202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案件擷取（含期間八款檢核）→ 爭點 → 法規 → 相似案例 → 決定書草稿；SSE 逐步推進，每步完成即可看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78624" y="1371600"/>
            <a:ext cx="2103120" cy="3840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78624" y="1371600"/>
            <a:ext cx="210312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55448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JhengHei"/>
              </a:rPr>
              <a:t>4 助手修改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0064" y="2057400"/>
            <a:ext cx="19202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「爭點 2 改採訴願人，因為…」→ 提案卡 → 確認 → 只重跑受影響的步驟 → 逐項回覆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91472" y="1371600"/>
            <a:ext cx="2103120" cy="38404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91472" y="1371600"/>
            <a:ext cx="210312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82911" y="155448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F3A5F"/>
                </a:solidFill>
                <a:latin typeface="Microsoft JhengHei"/>
              </a:rPr>
              <a:t>5 補件與結案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2911" y="2057400"/>
            <a:ext cx="19202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JhengHei"/>
              </a:rPr>
              <a:t>案件進行中補件只辨識新檔；已送審／已結案鎖定；草稿版本 v1／v2 可回溯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577840"/>
            <a:ext cx="54864" cy="54864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550408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  <a:latin typeface="Microsoft JhengHei"/>
              </a:rPr>
              <a:t>示範案件：case02 廢棄物清理法亂丟煙蒂（20 頁卷宗＋影片）— 上傳 90 秒歸戶、約 2 分鐘出五分頁。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對應命題四大功能：每一項都有可點的證據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5/15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062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命題要求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我們做到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怎麼證明它沒有幻覺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(1) 案件資訊擷取與分類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訴願人／原處分／請求／理由逐點；案件類型＋主要爭點＋預判走向；送達日／收文日／屆滿日／在途期間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欄位附 refs 錨點；訴願書自述收受日與送達證書不一致時標衝突、以送達證書為準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(2) 智能法規推薦（含最新修正狀態）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Bedrock Knowledge Base 語意檢索法規／判解／函釋 → 模型挑選 → 程式查核條號存在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citations.status：ok／gap／pending（未收錄）；laws[].version.warn：修正日晚於行為日 → 提示行政罰法 §5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(3) 相似案例比對（3–5 件）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101 份決定書依領域 filter、排除本案；每案「為何相似」＋可借用理由段 → 對應本案爭點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sims[].borrow 指到具體理由段；simDist 顯示同類案結果分布（不受理／駁回／撤銷）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(4) 決定書草稿生成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主文／事實／理由／綜上論結／救濟教示；few-shot 用相似決定書理由段；不受理案不寫實體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草稿每段附 refs；unverifiedQuotes 引句回查；不受理／駁回／撤銷三種模板由程式選，不由模型決定主文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步驟一：文件歸戶——卷宗不是乾淨 PDF，系統得看內容不看檔名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6/15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做了什麼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正規化：pdf-text／pdf-scan／image／video／office／zip；掃描頁出頁圖、影片每 5 秒抽幀、HEIC 解碼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分類：Claude Sonnet 4.5 視覺＋文字，tool-use 強制 JSON；每箱 ≤10 檔，逐箱 SSE 推結果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27 種 doc_type（訴願書／答辯書／裁處書／送達證書／稽查紀錄／採證影片…）× 5 種來源（訴願人／原處分機關／第三方／本局／未知）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程式推導 nature（主張／紀錄／證物）與 timing（處分作成前／作成／爭訟後），供下游比對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sha256 去重、zip 展開、合併卷宗分段不拆檔、evidence 回查失敗自動打折信心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實測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case02 亂檔名 20 檔（IMG_3985.jpg／scan_0001.pdf／文件(2).pdf）：90 秒、20/20 正確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27 檔含 20 頁合併卷宗＋zip＋heic＋office：85 秒、3 箱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承辦人 PATCH 修正類型／來源 → 標準檔名重算 → 稽核一筆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Bedrock ≤ 1 RPS：單 worker 序列、2 秒起跑間隔、在途 ≤3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步驟二～五：固定 pipeline，不是自由 agent——1 RPS 下呼叫次數必須可預測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7/15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s2 欄位擷取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 次 Converse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訴願人／處分文號／日期／請求／理由；三時點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6856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 次（程式）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6856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訴願法 §14 次日起 30 日、在途期間、§77 八款逐款 pass／fail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s3 爭點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 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訴願書 vs 答辯書 vs 卷證三方比對；每爭點附 quote；AI 認定＋一句依據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952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s4 法規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KB Retrieve＋1 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候選 → 挑選 → 條號字典查核；版本三時點比對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94576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7728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s5 相似案例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728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KB Retrieve＋1 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領域 filter、排除本案；為何相似；可借用理由段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s6 草稿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1352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 次串流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模板由程式依判定選；few-shot 理由段；條號回查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21824" y="1325880"/>
            <a:ext cx="1481328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4976" y="141732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Microsoft JhengHei"/>
              </a:rPr>
              <a:t>異議／提案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1810512"/>
            <a:ext cx="135331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1 次重論證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94976" y="2194560"/>
            <a:ext cx="1353312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Microsoft JhengHei"/>
              </a:rPr>
              <a:t>採納→只重跑受影響步驟、草稿出 v2；不採納→附證據回覆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623560"/>
            <a:ext cx="54864" cy="54864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596128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  <a:latin typeface="Microsoft JhengHei"/>
              </a:rPr>
              <a:t>每步落地 S3＋DynamoDB，可單步重跑、可做 eval；case02 全程 6 次呼叫、約 2 分鐘。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AWS 雲端技術架構（全部在競賽允許清單內）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8/15</a:t>
            </a:r>
          </a:p>
        </p:txBody>
      </p:sp>
      <p:pic>
        <p:nvPicPr>
          <p:cNvPr id="7" name="Picture 6" descr="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11155680" cy="52942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幻覺與時效控制：四道閘門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9/15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062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風險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閘門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落地位置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捏造條號／案號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條號字典查核（11 部法規逐條）；草稿內所有引用回查；查無 → citations.status = pending，草稿標「未收錄」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s4／s6 程式層，不靠 prompt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引句與卷證不符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每段 quote 回查原文；失敗列入 unverifiedQuotes；信心打 0.6 折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歸戶 evidence_unverified；分析 refs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引到已修正／廢止的法規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法規庫三時點：行為時／裁處時／決定時；修正日晚於行為日 → ⚠ 提示行政罰法 §5；「同步全國法規資料庫」逐部比對官方修正日（實測 12 部：2 部新修正、10 部一致）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lawlib／lawsync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AI 誤判程序結論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主文模板由程式依期間／八款檢核決定（不受理／駁回／撤銷），模型只寫理由；不受理案不寫實體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judge → drafts.tmpl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資料應用性：命題資料集怎麼用、缺什麼、怎麼補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10/15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命題方提供（僅供競賽）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101 份歷史決定書（110–114 年）→ 檔名四段結構解析：領域 × 結果交叉統計；不受理 70／駁回 15／撤銷 3／撤銷另處 12／混合 1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11 部法規 → 逐條切片建條號字典＋KB；19 則判解、10 則函釋 → KB metadata（kind／law／article）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發現：不受理占 69%，每個領域都以不受理為主——所以期間計算必須是程式、不能是模型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發現：空氣污染防制法是命題三大宗之一，但資料集零判解零函釋 → 上網補齊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自行蒐集補強（皆政府公開來源）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政府資訊公開法全文（判解有引、法規本體原缺）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洗錢防制法「帳戶控制權」判準：臺北市 114 年決定書＋法務部 114 年書函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空污法：臺北市 114 年決定書＋環保署 108／環境部 113 年函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官方訴願書／答辯書／委任書／閱卷申請書範本（新北市法制局、行政院、彰化縣法制處）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個資紅線：真實案件資料不送第三方服務；競賽環境只用去識別化資料，全部在 AWS 帳號內處理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評測集：決定書是「輸出」，答辯書和卷證才是「輸入」——而輸入是不公開的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11/15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問題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訴願法 §58 III／IV：答辯書只存在於機關、受理機關卷內、訴願人手上，沒有公開機制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訴願法 §49、§75 II：卷宗閱覽限訴願人、參加人、代理人，第三人拿不到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只拿決定書測，系統靠相似案例檢索就能「認出」同一份文件，分數虛高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188720"/>
            <a:ext cx="53035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D98E04"/>
                </a:solidFill>
                <a:latin typeface="Microsoft JhengHei"/>
              </a:rPr>
              <a:t>做法：反推重建 3 案 × 30 頁卷宗包，與 RAG 嚴格隔離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00200"/>
            <a:ext cx="5303520" cy="2743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case01 建築法 §77② 逾期不受理：訴願書 10＋答辯書 10＋卷證 10；六點實體理由當干擾，正確結論仍是不受理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case02 廢清法 §79 I 駁回：20 頁＋3 幀照片＋12 秒影片；訴願書收受日 9/16 vs 送達證書 9/18；三方主張衝突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case03 建築法 §81 I 撤銷：行政罰法 §27 三年時效——起算日／處分日皆在卷內，答辯書迴避不答；機關實體事證強但「固非無據、惟時效消滅」→ 單純撤銷、不附教示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掃描（手寫、彩色核章）、系統截圖、照片、影片混合；每頁浮水印「模擬文件」，個資遮蔽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222222"/>
                </a:solidFill>
                <a:latin typeface="Microsoft JhengHei"/>
              </a:rPr>
              <a:t>•  對應的 3 份真實決定書從 KB 排除；ingestion 腳本不掃評測資料夾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完成度：什麼已上線、什麼是 mock、什麼還沒做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12/15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05840"/>
                <a:gridCol w="59436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說明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文件歸戶 API（Node）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7 支 endpoint、job 佇列、SSE 可重連、S3＋DynamoDB、稽核、demo 真跑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分析 API（FastAPI，經 Node 反代）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analyze／analysis／objection／reanalyze／lawlib／lawlib sync；case02、case03 樣本為真實跑出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助手 API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chat（唯讀）＋ propose_revision → proposals get／confirm／cancel；confirm 逐項走 objection；提案預覽只改寫受影響段落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前端工作台（五分頁、卷宗瀏覽器、助手、補件、案件庫、法規庫）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步驟一、步驟 2–5、助手、卷宗檢視均接真 API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法規庫同步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逐部抓全國法規資料庫修正日；約 1–2 分鐘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補件辨識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◐ 部分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UI 完成；接真歸戶 API 為下一步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登入／HTTPS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✗ 未做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SG IP 白名單代替；正式版加 Cognito＋CloudFront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5F"/>
                          </a:solidFill>
                          <a:latin typeface="Microsoft JhengHei"/>
                        </a:rPr>
                        <a:t>自動化測試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✅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Microsoft JhengHei"/>
                        </a:rPr>
                        <a:t>pipeline／assistant／API 52 個測試＋ LIVE 測試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評分項目對照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13/15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344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841248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評分項目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配比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我們的證據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技術可行性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20%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全部使用允許清單服務；1 RPS 限制下固定 pipeline、序列 worker；掃描／手寫／影片皆可處理；已在 EC2 真跑，非 mock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完成度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25%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前後端串接上線，Live Demo 可操作完整流程；歸戶→分析→修改→重跑→草稿 v2；52 個測試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資料應用性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30%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101 份決定書全量結構化統計指導設計；法規／判解／函釋進 KB＋條號字典；三案卷宗包評測集與 RAG 隔離；自行補齊三個資料缺口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3A5F"/>
                          </a:solidFill>
                          <a:latin typeface="Microsoft JhengHei"/>
                        </a:rPr>
                        <a:t>主題契合度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25%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latin typeface="Microsoft JhengHei"/>
                        </a:rPr>
                        <a:t>命題四大功能逐一對應；痛點 ①②③ 各有設計回答；輔助而非取代，決定權與稽核留在承辦人；可直接擴到洗錢／空污案型</a:t>
                      </a:r>
                    </a:p>
                  </a:txBody>
                  <a:tcPr marT="36576" marB="36576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424160" y="0"/>
            <a:ext cx="1767535" cy="10058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F3A5F"/>
                </a:solidFill>
                <a:latin typeface="Microsoft JhengHei"/>
              </a:rPr>
              <a:t>下一步與落地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99999"/>
                </a:solidFill>
                <a:latin typeface="Microsoft JhengHei"/>
              </a:rPr>
              <a:t>訴願智審臺｜法制局組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Microsoft JhengHei"/>
              </a:rPr>
              <a:t>14/15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補件接真歸戶 API；建議句加一次 Haiku 呼叫補充。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法規同步排程化：lawsync → S3 → KB ingestion，前端顯示「資料最後同步時間」。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洗錢防制法、空氣污染防制法案型：pipeline 不改，只補 KB 語料與領域 filter；資料集已完成領域統計與缺口補強。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正式版：Cognito 登入、CloudFront HTTPS、決定書 ODT／PDF 匯出、與法制局公文系統對接。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222"/>
                </a:solidFill>
                <a:latin typeface="Microsoft JhengHei"/>
              </a:rPr>
              <a:t>•  法制局可取回的資產：三案卷宗包評測集（可持續擴充）、法規三時點比對規則、27 種卷證分類定義。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715000"/>
            <a:ext cx="54864" cy="54864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87568"/>
            <a:ext cx="10698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>
                <a:solidFill>
                  <a:srgbClr val="555555"/>
                </a:solidFill>
                <a:latin typeface="Microsoft JhengHei"/>
              </a:rPr>
              <a:t>Live Demo：http://100.20.156.38/　GitHub：含完整原始碼、部署腳本、評測集（無任何憑證）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FFD27A"/>
                </a:solidFill>
                <a:latin typeface="Microsoft JhengHei"/>
              </a:rPr>
              <a:t>訴願智審臺——把例行比對做完、把證據攤開，決定留給承辦人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DFE6F0"/>
                </a:solidFill>
                <a:latin typeface="Microsoft JhengHei"/>
              </a:rPr>
              <a:t>•  2026 新北市 AI 智慧城市黑客松｜法制局組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4652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FB0C8"/>
                </a:solidFill>
                <a:latin typeface="Microsoft JhengHe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