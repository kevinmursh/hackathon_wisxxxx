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例行的比對交給 AI，證據攤在眼前，決定仍在承辦人手上。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輔助，不取代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每一步看得見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改，就改對的那一步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數據飛輪：法規庫／案件庫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支柱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輔助，不取代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5B6573"/>
                </a:solidFill>
                <a:latin typeface="Microsoft JhengHei"/>
              </a:rPr>
              <a:t>✕  AI 只給一個結論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5B6573"/>
                </a:solidFill>
                <a:latin typeface="Microsoft JhengHei"/>
              </a:rPr>
              <a:t>「本案應駁回。」——信也不是，不信也不是。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931920"/>
            <a:ext cx="4206240" cy="1097280"/>
          </a:xfrm>
          <a:prstGeom prst="roundRect">
            <a:avLst>
              <a:gd name="adj" fmla="val 8000"/>
            </a:avLst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31920"/>
            <a:ext cx="420624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5B6573"/>
                </a:solidFill>
                <a:latin typeface="Microsoft JhengHei"/>
              </a:rPr>
              <a:t>駁回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74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黑盒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JhengHei"/>
              </a:rPr>
              <a:t>✓  AI 把選項和證據攤在眼前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48463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E6EDF5"/>
                </a:solidFill>
                <a:latin typeface="Microsoft JhengHei"/>
              </a:rPr>
              <a:t>每個爭點：AI 怎麼認、憑什麼認、卷證在哪一頁；採信哪一方會有什麼後果——都寫清楚，然後交給承辦人。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520440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520440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1　採信機關　→ 送達證書 p.2「本人簽收」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4087368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087368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2　採信訴願人 → 影片 00:14「未見拋擲」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654296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承辦人點頭，才進草稿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支柱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固定七個步驟，哪一步錯就修哪一步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AI ×1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86584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E0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86584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JhengHei"/>
              </a:rPr>
              <a:t>程式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0208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AI ×1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3832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檢索＋AI ×1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檢索＋AI ×1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41080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AI ×1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2182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04703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04703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局部重算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 AI・約 2 分鐘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步驟固定，結果留底。錯在哪一步，就修那一步；每個結論都指得出卷證和條號。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期間怎麼算、該不該受理，是法條說了算，不是 AI 猜——這一步交給程式。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支柱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承辦人說改哪裡，系統改哪裡，改了什麼都有交代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承辦人指出問題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「爭點 2 改採信訴願人，因為影片 00:14 看不到拋擲」
可多點、可附卷證依據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4448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系統算出牽動哪幾步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爭點 → 法規 → 相似案例 → 草稿
只重算這幾步，其他不動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45936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改前改後並排，點確認才生效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改成什麼樣，先看見
取消則原樣不動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7424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7424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每一點都回覆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採納、部分採納、或不採納
附理由，留紀錄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12064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38927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助手有據才答：法條、決定書、本案卷證，查不到就說查不到；查到的，一鍵變成修正意見。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支柱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數據飛輪：決定書人人有，卷證只能自己攢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029200" cy="26517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6304F"/>
                </a:solidFill>
                <a:latin typeface="Microsoft JhengHei"/>
              </a:rPr>
              <a:t>為什麼只能自己累積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・訴願法 §58 III／IV：答辯書只存在於機關、受理機關卷內、訴願人手上，沒有公開機制
・訴願法 §49、§75 II：卷宗閱覽限訴願人、參加人、代理人
・決定書到處都是，答辯書一份難求——制度使然。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029200" cy="1143000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43400"/>
            <a:ext cx="64008" cy="1143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832"/>
            <a:ext cx="47548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中途補件走同一條路：一句「補這份」，只認新檔、只重算牽動的步驟。</a:t>
            </a:r>
          </a:p>
        </p:txBody>
      </p:sp>
      <p:sp>
        <p:nvSpPr>
          <p:cNvPr id="15" name="Oval 14"/>
          <p:cNvSpPr/>
          <p:nvPr/>
        </p:nvSpPr>
        <p:spPr>
          <a:xfrm>
            <a:off x="7360919" y="2103120"/>
            <a:ext cx="2834640" cy="2834640"/>
          </a:xfrm>
          <a:prstGeom prst="ellipse">
            <a:avLst/>
          </a:prstGeom>
          <a:noFill/>
          <a:ln w="50800">
            <a:solidFill>
              <a:srgbClr val="D98E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2461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D98E04"/>
                </a:solidFill>
                <a:latin typeface="Microsoft JhengHei"/>
              </a:rPr>
              <a:t>越用越準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1691639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辦案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868679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334455"/>
                </a:solidFill>
                <a:latin typeface="Microsoft JhengHei"/>
              </a:rPr>
              <a:t>承辦人上傳卷宗、答辯書</a:t>
            </a:r>
          </a:p>
        </p:txBody>
      </p:sp>
      <p:sp>
        <p:nvSpPr>
          <p:cNvPr id="19" name="Oval 18"/>
          <p:cNvSpPr/>
          <p:nvPr/>
        </p:nvSpPr>
        <p:spPr>
          <a:xfrm>
            <a:off x="9714711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962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27 類文件，自動命名</a:t>
            </a:r>
          </a:p>
        </p:txBody>
      </p:sp>
      <p:sp>
        <p:nvSpPr>
          <p:cNvPr id="21" name="Oval 20"/>
          <p:cNvSpPr/>
          <p:nvPr/>
        </p:nvSpPr>
        <p:spPr>
          <a:xfrm>
            <a:off x="9199839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697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查法規庫、找相似案例、寫草稿</a:t>
            </a:r>
          </a:p>
        </p:txBody>
      </p:sp>
      <p:sp>
        <p:nvSpPr>
          <p:cNvPr id="23" name="Oval 22"/>
          <p:cNvSpPr/>
          <p:nvPr/>
        </p:nvSpPr>
        <p:spPr>
          <a:xfrm>
            <a:off x="7533680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8102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承辦人確認或修改</a:t>
            </a:r>
          </a:p>
        </p:txBody>
      </p:sp>
      <p:sp>
        <p:nvSpPr>
          <p:cNvPr id="25" name="Oval 24"/>
          <p:cNvSpPr/>
          <p:nvPr/>
        </p:nvSpPr>
        <p:spPr>
          <a:xfrm>
            <a:off x="7018808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入庫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837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下一案的相似案例＋法規版本更新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14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會犯的四種錯，四道關卡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14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七成案子在程序就結束了。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所以期間交給程式算；不受理的案子，草稿一個字都不碰實體。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11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