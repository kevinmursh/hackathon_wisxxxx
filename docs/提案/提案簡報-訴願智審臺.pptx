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Microsoft JhengHei"/>
              </a:rPr>
              <a:t>訴願智審臺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承辦人的 AI 審卷夥伴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5661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520439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比對交給 AI，證據原文可查，判斷留給承辦人。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4068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E6EDF5"/>
                </a:solidFill>
                <a:latin typeface="Microsoft JhengHei"/>
              </a:rPr>
              <a:t>WISXXXX 親友見面會　｜　Kevin ／ 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9FB0C8"/>
                </a:solidFill>
                <a:latin typeface="Microsoft JhengHei"/>
              </a:rPr>
              <a:t>Live Demo　http://100.20.156.38/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01 ／ 破題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四個前提，缺一不可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2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19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整合工作流，專注判斷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0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每一步透明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19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修正可提、可查、可追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92240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數據飛輪：案件庫／法規庫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02 ／ 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承辦人只做五件事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3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17319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上傳卷宗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訴願書、答辯書、卷證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30168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8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自動分類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27 類・自動命名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68696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43016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5776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看分析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基本資料・爭點・法規・相似案例・草稿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81544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55864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78624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提出修正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78624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「爭點 2 改採信訴願人」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94392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68711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91472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確認送審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91472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草稿 v1／v2 可回溯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示範案例：亂丟煙蒂案（廢清法）。20 頁卷宗加一段影片，90 秒分好類，2 分鐘出分析。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03 ／ 順手做到的事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卷宗照原樣丟進來就好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4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5B6573"/>
                </a:solidFill>
                <a:latin typeface="Microsoft JhengHei"/>
              </a:rPr>
              <a:t>IMG_3985.jpg
scan_0001.pdf
文件(2).pdf
DASHCAM_0627.mp4
掃描全卷.pdf（20 頁）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651760"/>
            <a:ext cx="11887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D98E04"/>
                </a:solidFill>
                <a:latin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 w="19050">
            <a:solidFill>
              <a:srgbClr val="D98E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0F2038"/>
                </a:solidFill>
                <a:latin typeface="Microsoft JhengHei"/>
              </a:rPr>
              <a:t>01- 訴願書_114-09-22
07- 裁處書_114-09-16
11- 送達證書_114-09-18
14- 採證照片 ×3
19- 採證影片 00:12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27 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文件類型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04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20 /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份亂檔名，20 份分對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90 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份含影片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66928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66928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8756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不用改檔名、不用轉格式；分錯了點一下就改，改動有紀錄。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04 ／ 每一步透明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固定七個步驟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5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49808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1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讀出基本資料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1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當事人、處分文號、日期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1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訴願書、處分書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03704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313432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期間・程序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76856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屆滿日、八款檢核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13432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76856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送達證書（程式計算）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67328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77056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整理爭點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爭點＋AI 認定＋依據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77056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0480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訴願書 vs 答辯書 vs 卷證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30952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440680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4104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找法規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04104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條文＋版本狀態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40680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4104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法規庫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94576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04304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67728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找相似案例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7728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3–5 案＋可借用段落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04304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67728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案件庫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58200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567928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31352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寫草稿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31352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主文・事實・理由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567928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31352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相似決定書理由段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21824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131551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94976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承辦人修正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94976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草稿 v2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31551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94976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承辦人意見，只重算受影響步驟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05 ／ AWS 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一台 EC2，三個 AWS 服務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6 / 8</a:t>
            </a:r>
          </a:p>
        </p:txBody>
      </p:sp>
      <p:pic>
        <p:nvPicPr>
          <p:cNvPr id="9" name="Picture 8" descr="aws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10424160" cy="48948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06 ／ 準確性驗證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三個案件：主文、條款、期間、時效，全部與決定書一致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7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46304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0876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重建卷宗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810512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334455"/>
                </a:solidFill>
                <a:latin typeface="Microsoft JhengHei"/>
              </a:rPr>
              <a:t>從法制局 101 份決定書挑 3 份，依決定書反推整套卷宗：掃描、手寫、照片、影片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2316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46888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看不到答案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70632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334455"/>
                </a:solidFill>
                <a:latin typeface="Microsoft JhengHei"/>
              </a:rPr>
              <a:t>這 3 份決定書從知識庫與相似案例排除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38328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42900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程式逐項比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730752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334455"/>
                </a:solidFill>
                <a:latin typeface="Microsoft JhengHei"/>
              </a:rPr>
              <a:t>期間三日期、法條、主文條款、論證點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34340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38912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線上真跑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690872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334455"/>
                </a:solidFill>
                <a:latin typeface="Microsoft JhengHei"/>
              </a:rPr>
              <a:t>每案 4–5 分鐘，可重跑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91840" y="1463040"/>
          <a:ext cx="539496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463040"/>
                <a:gridCol w="1645920"/>
                <a:gridCol w="1463040"/>
              </a:tblGrid>
              <a:tr h="438912"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JhengHei"/>
                        </a:rPr>
                        <a:t>建築法・逾期</a:t>
                      </a:r>
                    </a:p>
                  </a:txBody>
                  <a:tcPr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JhengHei"/>
                        </a:rPr>
                        <a:t>廢清法・煙蒂</a:t>
                      </a:r>
                    </a:p>
                  </a:txBody>
                  <a:tcPr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JhengHei"/>
                        </a:rPr>
                        <a:t>建築法・公安簽證</a:t>
                      </a:r>
                    </a:p>
                  </a:txBody>
                  <a:tcPr>
                    <a:solidFill>
                      <a:srgbClr val="16304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6304F"/>
                          </a:solidFill>
                          <a:latin typeface="Microsoft JhengHei"/>
                        </a:rPr>
                        <a:t>卷宗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30 頁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20 頁＋3 幀照片＋12 秒影片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30 頁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6304F"/>
                          </a:solidFill>
                          <a:latin typeface="Microsoft JhengHei"/>
                        </a:rPr>
                        <a:t>文件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訴願書 10・答辯書 10・卷證 10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訴願書 3・答辯書 3・卷證 14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訴願書 10・答辯書 10・卷證 10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6304F"/>
                          </a:solidFill>
                          <a:latin typeface="Microsoft JhengHei"/>
                        </a:rPr>
                        <a:t>主文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不受理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駁回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撤銷（不另處）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6304F"/>
                          </a:solidFill>
                          <a:latin typeface="Microsoft JhengHei"/>
                        </a:rPr>
                        <a:t>條款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§77 ②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§79 I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§81 I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6304F"/>
                          </a:solidFill>
                          <a:latin typeface="Microsoft JhengHei"/>
                        </a:rPr>
                        <a:t>期間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逾期 7 日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期間內（依送達證書）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期間內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6304F"/>
                          </a:solidFill>
                          <a:latin typeface="Microsoft JhengHei"/>
                        </a:rPr>
                        <a:t>關鍵爭點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逾期 → 採機關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舉證 → 採機關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時效 → 採訴願人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6304F"/>
                          </a:solidFill>
                          <a:latin typeface="Microsoft JhengHei"/>
                        </a:rPr>
                        <a:t>與決定書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E7D32"/>
                          </a:solidFill>
                          <a:latin typeface="Microsoft JhengHei"/>
                        </a:rPr>
                        <a:t>一致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E7D32"/>
                          </a:solidFill>
                          <a:latin typeface="Microsoft JhengHei"/>
                        </a:rPr>
                        <a:t>一致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E7D32"/>
                          </a:solidFill>
                          <a:latin typeface="Microsoft JhengHei"/>
                        </a:rPr>
                        <a:t>一致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8915400" y="1463040"/>
            <a:ext cx="2651760" cy="384048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5400" y="1463040"/>
            <a:ext cx="64008" cy="384048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98280" y="1554480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最難的一案：時效是委員會依職權發現的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2148840"/>
            <a:ext cx="2377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60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000">
                <a:solidFill>
                  <a:srgbClr val="334455"/>
                </a:solidFill>
                <a:latin typeface="Microsoft JhengHei"/>
              </a:rPr>
              <a:t>訴願人沒主張到重點，機關答辯只說「複查時才發現」</a:t>
            </a:r>
          </a:p>
          <a:p>
            <a:pPr>
              <a:spcAft>
                <a:spcPts val="600"/>
              </a:spcAft>
            </a:pPr>
            <a:r>
              <a:rPr sz="60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000">
                <a:solidFill>
                  <a:srgbClr val="334455"/>
                </a:solidFill>
                <a:latin typeface="Microsoft JhengHei"/>
              </a:rPr>
              <a:t>系統從卷宗算出：111-06-09 行為終了 → 114-06-08 屆滿 → 114-07-04 才裁處，逾 26 日</a:t>
            </a:r>
          </a:p>
          <a:p>
            <a:pPr>
              <a:spcAft>
                <a:spcPts val="600"/>
              </a:spcAft>
            </a:pPr>
            <a:r>
              <a:rPr sz="60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000">
                <a:solidFill>
                  <a:srgbClr val="334455"/>
                </a:solidFill>
                <a:latin typeface="Microsoft JhengHei"/>
              </a:rPr>
              <a:t>主文寫「原處分撤銷」不寫「另為處分」，且不附教示——格式上最容易錯的細節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JhengHei"/>
              </a:rPr>
              <a:t>感謝聆聽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