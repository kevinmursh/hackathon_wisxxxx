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6600" b="1">
                <a:solidFill>
                  <a:srgbClr val="FFFFFF"/>
                </a:solidFill>
                <a:latin typeface="Microsoft JhengHei"/>
              </a:rPr>
              <a:t>訴願智審臺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100" b="0">
                <a:solidFill>
                  <a:srgbClr val="C9D6E6"/>
                </a:solidFill>
                <a:latin typeface="Microsoft JhengHei"/>
              </a:rPr>
              <a:t>承辦人的 AI 審卷夥伴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66160"/>
            <a:ext cx="45720" cy="6858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520439"/>
            <a:ext cx="9144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>
                <a:solidFill>
                  <a:srgbClr val="E6EDF5"/>
                </a:solidFill>
                <a:latin typeface="Microsoft JhengHei"/>
              </a:rPr>
              <a:t>比對交給 AI，證據留給眼睛，判斷留給承辦人。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4068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E6EDF5"/>
                </a:solidFill>
                <a:latin typeface="Microsoft JhengHei"/>
              </a:rPr>
              <a:t>WISXXXX 親友見面會　｜　Kevin ／ 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9FB0C8"/>
                </a:solidFill>
                <a:latin typeface="Microsoft JhengHei"/>
              </a:rPr>
              <a:t>Live Demo　http://100.20.156.38/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01 ／ 破題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四個前提，缺一不可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19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整合工作流，專注判斷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08760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0" y="2194560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1874519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每一步透明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19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修正可提、可查、可追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40479"/>
            <a:ext cx="5394960" cy="214884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92240" y="4526279"/>
            <a:ext cx="777240" cy="7772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206240"/>
            <a:ext cx="393192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2600" b="1">
                <a:solidFill>
                  <a:srgbClr val="16304F"/>
                </a:solidFill>
                <a:latin typeface="Microsoft JhengHei"/>
              </a:rPr>
              <a:t>數據飛輪：案件庫／法規庫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02 ／ 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承辦人只做五件事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上傳卷宗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訴願書、答辯書、卷證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630168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52928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自動分類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27 類・自動命名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568696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843016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5776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看分析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基本資料・爭點・法規・相似案例・草稿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81544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55864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78624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提出修正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8624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「爭點 2 改採信訴願人」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94392" y="1600200"/>
            <a:ext cx="1097280" cy="1097280"/>
          </a:xfrm>
          <a:prstGeom prst="roundRect">
            <a:avLst>
              <a:gd name="adj" fmla="val 2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268711" y="1874519"/>
            <a:ext cx="548640" cy="548640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1472" y="2834640"/>
            <a:ext cx="2103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6304F"/>
                </a:solidFill>
                <a:latin typeface="Microsoft JhengHei"/>
              </a:rPr>
              <a:t>確認送審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3337560"/>
            <a:ext cx="21031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5B6573"/>
                </a:solidFill>
                <a:latin typeface="Microsoft JhengHei"/>
              </a:rPr>
              <a:t>草稿 v1／v2 可回溯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2356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62356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64184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示範案例：亂丟煙蒂案（廢清法）。20 頁卷宗加一段影片，90 秒分好類，2 分鐘出分析。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03 ／ 順手做到的事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卷宗照原樣丟進來就好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4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5B6573"/>
                </a:solidFill>
                <a:latin typeface="Microsoft JhengHei"/>
              </a:rPr>
              <a:t>IMG_3985.jpg
scan_0001.pdf
文件(2).pdf
DASHCAM_0627.mp4
掃描全卷.pdf（20 頁）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651760"/>
            <a:ext cx="11887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D98E04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508760"/>
            <a:ext cx="4754880" cy="297180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 w="19050">
            <a:solidFill>
              <a:srgbClr val="D98E0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691640"/>
            <a:ext cx="43891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2038"/>
                </a:solidFill>
                <a:latin typeface="Microsoft JhengHei"/>
              </a:rPr>
              <a:t>01- 訴願書_114-09-22
07- 裁處書_114-09-16
11- 送達證書_114-09-18
14- 採證照片 ×3
19- 採證影片 00:12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27 類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文件類型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04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20 /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份亂檔名，20 份分對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709160"/>
            <a:ext cx="2606040" cy="82296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727448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16304F"/>
                </a:solidFill>
                <a:latin typeface="Microsoft JhengHei"/>
              </a:rPr>
              <a:t>90 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138928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5B6573"/>
                </a:solidFill>
                <a:latin typeface="Microsoft JhengHei"/>
              </a:rPr>
              <a:t>20 份含影片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669280"/>
            <a:ext cx="10908792" cy="566928"/>
          </a:xfrm>
          <a:prstGeom prst="rect">
            <a:avLst/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669280"/>
            <a:ext cx="64008" cy="566928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8756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50" b="0">
                <a:solidFill>
                  <a:srgbClr val="334455"/>
                </a:solidFill>
                <a:latin typeface="Microsoft JhengHei"/>
              </a:rPr>
              <a:t>不用改檔名、不用轉格式；分錯了點一下就改，改動有紀錄。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04 ／ 每一步透明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固定七個步驟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4980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讀出基本資料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當事人、處分文號、日期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1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訴願書、處分書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0370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313432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期間・程序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7685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屆滿日、八款檢核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13432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7685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送達證書（程式計算）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67328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77056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整理爭點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爭點＋AI 認定＋依據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0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訴願書 vs 答辯書 vs 卷證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0952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40680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4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找法規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04104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條文＋版本狀態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04104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法規庫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94576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004304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67728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找相似案例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67728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3–5 案＋可借用段落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004304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案件庫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58200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567928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31352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寫草稿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31352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主文・事實・理由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67928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31352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相似決定書理由段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021824" y="1463040"/>
            <a:ext cx="1481328" cy="3108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131551" y="1572768"/>
            <a:ext cx="292608" cy="292608"/>
          </a:xfrm>
          <a:prstGeom prst="ellipse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JhengHe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94976" y="1920240"/>
            <a:ext cx="135331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>
                <a:solidFill>
                  <a:srgbClr val="16304F"/>
                </a:solidFill>
                <a:latin typeface="Microsoft JhengHei"/>
              </a:rPr>
              <a:t>承辦人修正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94976" y="2331720"/>
            <a:ext cx="135331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0F2038"/>
                </a:solidFill>
                <a:latin typeface="Microsoft JhengHei"/>
              </a:rPr>
              <a:t>草稿 v2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31551" y="3291840"/>
            <a:ext cx="126187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3364992"/>
            <a:ext cx="135331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>
                <a:solidFill>
                  <a:srgbClr val="8A93A0"/>
                </a:solidFill>
                <a:latin typeface="Microsoft JhengHei"/>
              </a:rPr>
              <a:t>依據 承辦人意見，只重算受影響步驟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05 ／ AWS 架構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一台 EC2，三個 AWS 服務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6 / 8</a:t>
            </a:r>
          </a:p>
        </p:txBody>
      </p:sp>
      <p:pic>
        <p:nvPicPr>
          <p:cNvPr id="9" name="Picture 8" descr="aws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17320"/>
            <a:ext cx="10424160" cy="48948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09760" cy="73152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73152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>
                <a:solidFill>
                  <a:srgbClr val="D98E04"/>
                </a:solidFill>
                <a:latin typeface="Microsoft JhengHei"/>
              </a:rPr>
              <a:t>06 ／ 準確性驗證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16304F"/>
                </a:solidFill>
                <a:latin typeface="Microsoft JhengHei"/>
              </a:rPr>
              <a:t>三個案件：主文、條款、期間、時效，全部與決定書一致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00800"/>
            <a:ext cx="10908792" cy="9144"/>
          </a:xfrm>
          <a:prstGeom prst="rect">
            <a:avLst/>
          </a:prstGeom>
          <a:solidFill>
            <a:srgbClr val="E6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28232"/>
            <a:ext cx="7315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訴願智審臺 ｜ 2026 新北市 AI 智慧城市黑客松・法制局組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428232"/>
            <a:ext cx="941832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950" b="0">
                <a:solidFill>
                  <a:srgbClr val="8A93A0"/>
                </a:solidFill>
                <a:latin typeface="Microsoft JhengHei"/>
              </a:rPr>
              <a:t>7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0876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重建卷宗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81051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從法制局 101 份決定書挑 3 份，依決定書反推整套卷宗：掃描、手寫、照片、影片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2316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6888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看不到答案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7063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這 3 份決定書從知識庫與相似案例排除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8328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2900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程式逐項比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373075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期間三日期、法條、主文條款、論證點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43400"/>
            <a:ext cx="2468880" cy="86868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389120"/>
            <a:ext cx="22860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線上真跑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690872"/>
            <a:ext cx="22860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334455"/>
                </a:solidFill>
                <a:latin typeface="Microsoft JhengHei"/>
              </a:rPr>
              <a:t>每案 4–5 分鐘，可重跑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91840" y="1463040"/>
          <a:ext cx="5394960" cy="35112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1645920"/>
                <a:gridCol w="1463040"/>
              </a:tblGrid>
              <a:tr h="438912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建築法・逾期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廢清法・煙蒂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JhengHei"/>
                        </a:rPr>
                        <a:t>建築法・公安簽證</a:t>
                      </a:r>
                    </a:p>
                  </a:txBody>
                  <a:tcPr>
                    <a:solidFill>
                      <a:srgbClr val="16304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卷宗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20 頁＋3 幀照片＋12 秒影片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30 頁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文件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3・答辯書 3・卷證 14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訴願書 10・答辯書 10・卷證 10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主文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不受理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駁回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撤銷（不另處）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條款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§77 ②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§79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§81 I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期間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7 日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期間內（依送達證書）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期間內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關鍵爭點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逾期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舉證 → 採機關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0F2038"/>
                          </a:solidFill>
                          <a:latin typeface="Microsoft JhengHei"/>
                        </a:rPr>
                        <a:t>時效 → 採訴願人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6304F"/>
                          </a:solidFill>
                          <a:latin typeface="Microsoft JhengHei"/>
                        </a:rPr>
                        <a:t>與決定書</a:t>
                      </a:r>
                    </a:p>
                  </a:txBody>
                  <a:tcPr marT="36576" marB="36576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2E7D32"/>
                          </a:solidFill>
                          <a:latin typeface="Microsoft JhengHei"/>
                        </a:rPr>
                        <a:t>一致</a:t>
                      </a:r>
                    </a:p>
                  </a:txBody>
                  <a:tcPr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8915400" y="1463040"/>
            <a:ext cx="2651760" cy="3840480"/>
          </a:xfrm>
          <a:prstGeom prst="roundRect">
            <a:avLst>
              <a:gd name="adj" fmla="val 8000"/>
            </a:avLst>
          </a:prstGeom>
          <a:solidFill>
            <a:srgbClr val="FFF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1463040"/>
            <a:ext cx="64008" cy="384048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554480"/>
            <a:ext cx="23774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1">
                <a:solidFill>
                  <a:srgbClr val="16304F"/>
                </a:solidFill>
                <a:latin typeface="Microsoft JhengHei"/>
              </a:rPr>
              <a:t>最難的一案：時效是委員會依職權發現的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148840"/>
            <a:ext cx="2377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訴願人沒主張到重點，機關答辯只說「複查時才發現」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系統從卷宗算出：111-06-09 行為終了 → 114-06-08 屆滿 → 114-07-04 才裁處，逾 26 日</a:t>
            </a:r>
          </a:p>
          <a:p>
            <a:pPr>
              <a:spcAft>
                <a:spcPts val="600"/>
              </a:spcAft>
            </a:pPr>
            <a:r>
              <a:rPr sz="600">
                <a:solidFill>
                  <a:srgbClr val="D98E04"/>
                </a:solidFill>
                <a:latin typeface="Microsoft JhengHei"/>
              </a:rPr>
              <a:t>●  </a:t>
            </a:r>
            <a:r>
              <a:rPr sz="1000">
                <a:solidFill>
                  <a:srgbClr val="334455"/>
                </a:solidFill>
                <a:latin typeface="Microsoft JhengHei"/>
              </a:rPr>
              <a:t>主文寫「原處分撤銷」不寫「另為處分」，且不附教示——格式上最容易錯的細節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>
                <a:solidFill>
                  <a:srgbClr val="8A93A0"/>
                </a:solidFill>
                <a:latin typeface="Microsoft JhengHei"/>
              </a:rPr>
              <a:t>理由段論證點涵蓋 18／21；缺的 3 項是次要法條引用（行政程序法 §72／§73、申報辦法附表 1），不是判斷錯誤。比對腳本：experiments/eval/compare_truth.py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326880" y="-1645920"/>
            <a:ext cx="5120640" cy="5120640"/>
          </a:xfrm>
          <a:prstGeom prst="ellipse">
            <a:avLst/>
          </a:prstGeom>
          <a:solidFill>
            <a:srgbClr val="1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058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2B544"/>
                </a:solidFill>
                <a:latin typeface="Microsoft JhengHei"/>
              </a:rPr>
              <a:t>2026 新北市 AI 智慧城市黑客松 ｜ 法制局組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515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Microsoft JhengHei"/>
              </a:rPr>
              <a:t>感謝聆聽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