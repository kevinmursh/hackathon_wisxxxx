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讓法制局能安心採用、而且會越用越準的 AI 審卷系統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AI 把例行比對做完、把證據攤開；決定，留給承辦人。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四個設計決定，每一個都是「採不採用」的門檻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輔助，不取代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透明、步驟式、非黑盒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修正意見是正式入口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數據飛輪：法規庫＋案件庫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支柱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輔助，不取代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5B6573"/>
                </a:solidFill>
                <a:latin typeface="Microsoft JhengHei"/>
              </a:rPr>
              <a:t>✕  AI 直接給答案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5B6573"/>
                </a:solidFill>
                <a:latin typeface="Microsoft JhengHei"/>
              </a:rPr>
              <a:t>「本案應駁回。」——承辦人只能信或不信；法制局第一反應：那承辦人幹嘛？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3931920"/>
            <a:ext cx="4206240" cy="1097280"/>
          </a:xfrm>
          <a:prstGeom prst="roundRect">
            <a:avLst>
              <a:gd name="adj" fmla="val 8000"/>
            </a:avLst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931920"/>
            <a:ext cx="420624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5B6573"/>
                </a:solidFill>
                <a:latin typeface="Microsoft JhengHei"/>
              </a:rPr>
              <a:t>駁回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749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黑盒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JhengHei"/>
              </a:rPr>
              <a:t>✓  AI 攤開選項與證據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40280"/>
            <a:ext cx="48463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E6EDF5"/>
                </a:solidFill>
                <a:latin typeface="Microsoft JhengHei"/>
              </a:rPr>
              <a:t>每個爭點附「認定＋依據一句＋卷證原句」，並標示採哪一方的法律後果與風險；決定自己下。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520440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520440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1　採機關　→ 送達證書 p.2「本人簽收」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4087368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087368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2　採訴願人 → 影片 00:14「未見拋擲」・風險：中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4654296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654296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承辦人：確認／修改 → 才寫進草稿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支柱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透明、步驟式、非黑盒：固定七步，哪一步錯就修哪一步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欄位擷取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模型 1 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0370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86584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E0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86584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icrosoft JhengHei"/>
              </a:rPr>
              <a:t>程式 0 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67328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爭點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0208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0208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模型 1 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952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法規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3832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檢索＋1 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相似案例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檢索＋1 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5820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草稿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41080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模型 1 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2182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2182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修正重跑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04703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04703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只跑受影響步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200400"/>
            <a:ext cx="210312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600" b="1">
                <a:solidFill>
                  <a:srgbClr val="16304F"/>
                </a:solidFill>
                <a:latin typeface="Microsoft JhengHe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977639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5B6573"/>
                </a:solidFill>
                <a:latin typeface="Microsoft JhengHei"/>
              </a:rPr>
              <a:t>次模型呼叫・約 2 分鐘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291840"/>
            <a:ext cx="6035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  <a:latin typeface="Microsoft JhengHei"/>
              </a:rPr>
              <a:t>每步輸出落地、每個結論附卷證原句與真實條號；呼叫次數固定，所以能在 1 RPS 下跑、能單步重跑、能做評測。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42976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JhengHei"/>
              </a:rPr>
              <a:t>綠色那步是程式算的：30 日期間、八款不受理，不交給模型猜。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支柱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修正意見是正式入口——不是聊天，是可追蹤的變更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承辦人說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「爭點 2 改採訴願人，因為影片 00:14 看不到拋擲」
可多點、可附卷證依據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4448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系統判斷影響範圍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爭點 → 法規 → 相似案例 → 草稿
只重算這幾層，其他不動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45936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提案卡：修改前 → 修改後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所見即所得；按「確認」才執行
取消則原樣不動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07424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7424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逐項回覆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採納／部分採納／無法採納
每一項附證據，寫入稽核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12064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38927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右下角助手「有據才答」：查法條、查決定書、查本案卷證、算期間——查無就說查無；查到的東西一鍵轉成修正意見。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支柱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數據飛輪：決定書是輸出，答辯書和卷證才是輸入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029200" cy="26517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6304F"/>
                </a:solidFill>
                <a:latin typeface="Microsoft JhengHei"/>
              </a:rPr>
              <a:t>為什麼輸入拿不到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45720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・訴願法 §58 III／IV：答辯書只存在於機關、受理機關卷內、訴願人手上，沒有公開機制
・訴願法 §49、§75 II：卷宗閱覽限訴願人、參加人、代理人
・所以決定書到處都是、答辯書一份難求——這是制度設計的結果，不是錯覺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029200" cy="1143000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343400"/>
            <a:ext cx="64008" cy="1143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0832"/>
            <a:ext cx="47548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補件與重新匯入走同一條路：承辦人跟助手說「補這份」→ 只辨識新檔 → 只重算受影響的步驟 → 前端立即更新</a:t>
            </a:r>
          </a:p>
        </p:txBody>
      </p:sp>
      <p:sp>
        <p:nvSpPr>
          <p:cNvPr id="15" name="Oval 14"/>
          <p:cNvSpPr/>
          <p:nvPr/>
        </p:nvSpPr>
        <p:spPr>
          <a:xfrm>
            <a:off x="7360919" y="2103120"/>
            <a:ext cx="2834640" cy="2834640"/>
          </a:xfrm>
          <a:prstGeom prst="ellipse">
            <a:avLst/>
          </a:prstGeom>
          <a:noFill/>
          <a:ln w="50800">
            <a:solidFill>
              <a:srgbClr val="D98E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24612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D98E04"/>
                </a:solidFill>
                <a:latin typeface="Microsoft JhengHei"/>
              </a:rPr>
              <a:t>越用越準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1691639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辦案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868679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50" b="0">
                <a:solidFill>
                  <a:srgbClr val="334455"/>
                </a:solidFill>
                <a:latin typeface="Microsoft JhengHei"/>
              </a:rPr>
              <a:t>承辦人上傳卷宗、答辯書</a:t>
            </a:r>
          </a:p>
        </p:txBody>
      </p:sp>
      <p:sp>
        <p:nvSpPr>
          <p:cNvPr id="19" name="Oval 18"/>
          <p:cNvSpPr/>
          <p:nvPr/>
        </p:nvSpPr>
        <p:spPr>
          <a:xfrm>
            <a:off x="9714711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歸戶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6962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27 類文件，自動命名進案件庫</a:t>
            </a:r>
          </a:p>
        </p:txBody>
      </p:sp>
      <p:sp>
        <p:nvSpPr>
          <p:cNvPr id="21" name="Oval 20"/>
          <p:cNvSpPr/>
          <p:nvPr/>
        </p:nvSpPr>
        <p:spPr>
          <a:xfrm>
            <a:off x="9199839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697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法規庫檢索、相似案例、草稿</a:t>
            </a:r>
          </a:p>
        </p:txBody>
      </p:sp>
      <p:sp>
        <p:nvSpPr>
          <p:cNvPr id="23" name="Oval 22"/>
          <p:cNvSpPr/>
          <p:nvPr/>
        </p:nvSpPr>
        <p:spPr>
          <a:xfrm>
            <a:off x="7533680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8102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承辦人確認／修改，寫回案件庫</a:t>
            </a:r>
          </a:p>
        </p:txBody>
      </p:sp>
      <p:sp>
        <p:nvSpPr>
          <p:cNvPr id="25" name="Oval 24"/>
          <p:cNvSpPr/>
          <p:nvPr/>
        </p:nvSpPr>
        <p:spPr>
          <a:xfrm>
            <a:off x="7018808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累積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7837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下一案的相似案例＋法規版本更新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丟卷宗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自動歸戶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看五分頁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欄位・爭點・法規・案例・草稿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示範：case02 亂丟煙蒂，20 頁卷宗＋影片 — 90 秒歸戶、2 分鐘出五分頁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貼心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卷宗怎麼來都收得下——降低上手門檻的細節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亂檔名全對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檔含影片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不是核心功能：承辦人不必先整理檔名或格式，系統看內容分類；分錯了在畫面上改，寫稽核。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服務，全在允許清單內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14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09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最常犯的四種錯，各有一道閘門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部法規逐條字典查核；查無就標「未收錄」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引句不符卷證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每句引文回查原文；查不到列入未驗證清單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不受理／駁回／撤銷由程式選模板，模型只寫理由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11 / 14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七成案子連實體都不審——程序（30 日、八款）是勝負手。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所以期間計算做成程式，不交給模型；不受理案的草稿不寫實體。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逐條字典＋KB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KB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輸入拿不到——我們自己造了三案考題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卷宗塞滿實體理由和照片當干擾；正確答案仍是程序不受理，一字實體都不能寫。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簽證不實證據很強，但三年裁處權時效已過；答辯書迴避不答，系統要自己算出來。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11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今天線上能做到哪裡，對到四個評分項目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13 / 14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文件歸戶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五分頁分析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修正提案 → 確認 → 局部重跑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前端接真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允許清單內；1 RPS 下固定 pipeline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份讀完再設計；三案評測集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所有數據都是 EC2 真跑，不是 mock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下一步：接補件 API・法規同步排程・擴到洗錢／空污案型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完整原始碼＋評測集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