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1645920"/>
            <a:ext cx="5120640" cy="5120640"/>
          </a:xfrm>
          <a:prstGeom prst="ellipse">
            <a:avLst/>
          </a:prstGeom>
          <a:solidFill>
            <a:srgbClr val="1E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F2B544"/>
                </a:solidFill>
                <a:latin typeface="Microsoft JhengHei"/>
              </a:rPr>
              <a:t>2026 新北市 AI 智慧城市黑客松 ｜ 法制局組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Microsoft JhengHei"/>
              </a:rPr>
              <a:t>訴願智審臺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100" b="0">
                <a:solidFill>
                  <a:srgbClr val="C9D6E6"/>
                </a:solidFill>
                <a:latin typeface="Microsoft JhengHei"/>
              </a:rPr>
              <a:t>承辦人的 AI 審卷夥伴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566160"/>
            <a:ext cx="45720" cy="685800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520439"/>
            <a:ext cx="91440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>
                <a:solidFill>
                  <a:srgbClr val="E6EDF5"/>
                </a:solidFill>
                <a:latin typeface="Microsoft JhengHei"/>
              </a:rPr>
              <a:t>比對交給 AI，證據留給眼睛，判斷留給承辦人。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068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E6EDF5"/>
                </a:solidFill>
                <a:latin typeface="Microsoft JhengHei"/>
              </a:rPr>
              <a:t>WISXXXX 親友見面會　｜　Kevin ／ Roy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9FB0C8"/>
                </a:solidFill>
                <a:latin typeface="Microsoft JhengHei"/>
              </a:rPr>
              <a:t>Live Demo　http://100.20.156.38/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09760" cy="73152"/>
          </a:xfrm>
          <a:prstGeom prst="rect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0"/>
            <a:ext cx="2681935" cy="73152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D98E04"/>
                </a:solidFill>
                <a:latin typeface="Microsoft JhengHei"/>
              </a:rPr>
              <a:t>01 ／ 破題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16304F"/>
                </a:solidFill>
                <a:latin typeface="Microsoft JhengHei"/>
              </a:rPr>
              <a:t>四個前提，缺一不可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2823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8A93A0"/>
                </a:solidFill>
                <a:latin typeface="Microsoft JhengHei"/>
              </a:rPr>
              <a:t>訴願智審臺 ｜ 2026 新北市 AI 智慧城市黑客松・法制局組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28232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50" b="0">
                <a:solidFill>
                  <a:srgbClr val="8A93A0"/>
                </a:solidFill>
                <a:latin typeface="Microsoft JhengHei"/>
              </a:rPr>
              <a:t>2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5394960" cy="21488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19" y="2194560"/>
            <a:ext cx="777240" cy="777240"/>
          </a:xfrm>
          <a:prstGeom prst="ellipse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011680"/>
            <a:ext cx="39319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6304F"/>
                </a:solidFill>
                <a:latin typeface="Microsoft JhengHei"/>
              </a:rPr>
              <a:t>減少查找，專注判斷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74320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8A5A00"/>
                </a:solidFill>
                <a:latin typeface="Microsoft JhengHei"/>
              </a:rPr>
              <a:t>輔助判斷，不代為決定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08760"/>
            <a:ext cx="5394960" cy="21488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2194560"/>
            <a:ext cx="777240" cy="777240"/>
          </a:xfrm>
          <a:prstGeom prst="ellipse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1874519"/>
            <a:ext cx="393192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6304F"/>
                </a:solidFill>
                <a:latin typeface="Microsoft JhengHei"/>
              </a:rPr>
              <a:t>每一步透明，每一步可修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40479"/>
            <a:ext cx="5394960" cy="21488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19" y="4526279"/>
            <a:ext cx="777240" cy="777240"/>
          </a:xfrm>
          <a:prstGeom prst="ellipse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4206240"/>
            <a:ext cx="393192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6304F"/>
                </a:solidFill>
                <a:latin typeface="Microsoft JhengHei"/>
              </a:rPr>
              <a:t>修正可提、可查、可追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840479"/>
            <a:ext cx="5394960" cy="21488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92240" y="4526279"/>
            <a:ext cx="777240" cy="777240"/>
          </a:xfrm>
          <a:prstGeom prst="ellipse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206240"/>
            <a:ext cx="3931920" cy="1417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600" b="1">
                <a:solidFill>
                  <a:srgbClr val="16304F"/>
                </a:solidFill>
                <a:latin typeface="Microsoft JhengHei"/>
              </a:rPr>
              <a:t>數據飛輪：法規庫／案件庫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09760" cy="73152"/>
          </a:xfrm>
          <a:prstGeom prst="rect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0"/>
            <a:ext cx="2681935" cy="73152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D98E04"/>
                </a:solidFill>
                <a:latin typeface="Microsoft JhengHei"/>
              </a:rPr>
              <a:t>02 ／ 支柱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16304F"/>
                </a:solidFill>
                <a:latin typeface="Microsoft JhengHei"/>
              </a:rPr>
              <a:t>繁瑣的交給系統，判斷的留給承辦人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2823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8A93A0"/>
                </a:solidFill>
                <a:latin typeface="Microsoft JhengHei"/>
              </a:rPr>
              <a:t>訴願智審臺 ｜ 2026 新北市 AI 智慧城市黑客松・法制局組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28232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50" b="0">
                <a:solidFill>
                  <a:srgbClr val="8A93A0"/>
                </a:solidFill>
                <a:latin typeface="Microsoft JhengHei"/>
              </a:rPr>
              <a:t>3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20700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8A5A00"/>
                </a:solidFill>
                <a:latin typeface="Microsoft JhengHei"/>
              </a:rPr>
              <a:t>讀卷比對、查法條函釋、找相似案例、擬草稿，四件事系統先做；輔助判斷，不代為決定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783080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50" b="1">
                <a:solidFill>
                  <a:srgbClr val="8A93A0"/>
                </a:solidFill>
                <a:latin typeface="Microsoft JhengHei"/>
              </a:rPr>
              <a:t>讀卷・比對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2148840"/>
            <a:ext cx="1874519" cy="18288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33087" y="1783080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50" b="1">
                <a:solidFill>
                  <a:srgbClr val="8A93A0"/>
                </a:solidFill>
                <a:latin typeface="Microsoft JhengHei"/>
              </a:rPr>
              <a:t>查法條・函釋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33087" y="2148840"/>
            <a:ext cx="1874519" cy="18288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17336" y="1783080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50" b="1">
                <a:solidFill>
                  <a:srgbClr val="8A93A0"/>
                </a:solidFill>
                <a:latin typeface="Microsoft JhengHei"/>
              </a:rPr>
              <a:t>找相似案例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17336" y="2148840"/>
            <a:ext cx="1874519" cy="18288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01583" y="1783080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50" b="1">
                <a:solidFill>
                  <a:srgbClr val="8A93A0"/>
                </a:solidFill>
                <a:latin typeface="Microsoft JhengHei"/>
              </a:rPr>
              <a:t>撰擬草稿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3" y="2148840"/>
            <a:ext cx="1874519" cy="18288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85832" y="1783080"/>
            <a:ext cx="187451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250" b="1">
                <a:solidFill>
                  <a:srgbClr val="8A93A0"/>
                </a:solidFill>
                <a:latin typeface="Microsoft JhengHei"/>
              </a:rPr>
              <a:t>審核・決定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85832" y="2148840"/>
            <a:ext cx="1874519" cy="18288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331720"/>
            <a:ext cx="146304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6304F"/>
                </a:solidFill>
                <a:latin typeface="Microsoft JhengHei"/>
              </a:rPr>
              <a:t>現在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48840" y="2331720"/>
            <a:ext cx="1874519" cy="11887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48840" y="2331720"/>
            <a:ext cx="1874519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8A93A0"/>
                </a:solidFill>
                <a:latin typeface="Microsoft JhengHei"/>
              </a:rPr>
              <a:t>人工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33087" y="2331720"/>
            <a:ext cx="1874519" cy="11887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33087" y="2331720"/>
            <a:ext cx="1874519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8A93A0"/>
                </a:solidFill>
                <a:latin typeface="Microsoft JhengHei"/>
              </a:rPr>
              <a:t>人工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17336" y="2331720"/>
            <a:ext cx="1874519" cy="11887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17336" y="2331720"/>
            <a:ext cx="1874519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8A93A0"/>
                </a:solidFill>
                <a:latin typeface="Microsoft JhengHei"/>
              </a:rPr>
              <a:t>人工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583" y="2331720"/>
            <a:ext cx="1874519" cy="11887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01583" y="2331720"/>
            <a:ext cx="1874519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8A93A0"/>
                </a:solidFill>
                <a:latin typeface="Microsoft JhengHei"/>
              </a:rPr>
              <a:t>人工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85832" y="2331720"/>
            <a:ext cx="1874519" cy="118872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85832" y="2331720"/>
            <a:ext cx="1874519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8A93A0"/>
                </a:solidFill>
                <a:latin typeface="Microsoft JhengHei"/>
              </a:rPr>
              <a:t>人工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749039"/>
            <a:ext cx="1463040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16304F"/>
                </a:solidFill>
                <a:latin typeface="Microsoft JhengHei"/>
              </a:rPr>
              <a:t>訴願智審臺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48840" y="3749039"/>
            <a:ext cx="1874519" cy="1188720"/>
          </a:xfrm>
          <a:prstGeom prst="roundRect">
            <a:avLst>
              <a:gd name="adj" fmla="val 8000"/>
            </a:avLst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48840" y="3749039"/>
            <a:ext cx="1874519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AI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33087" y="3749039"/>
            <a:ext cx="1874519" cy="1188720"/>
          </a:xfrm>
          <a:prstGeom prst="roundRect">
            <a:avLst>
              <a:gd name="adj" fmla="val 8000"/>
            </a:avLst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33087" y="3749039"/>
            <a:ext cx="1874519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AI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17336" y="3749039"/>
            <a:ext cx="1874519" cy="1188720"/>
          </a:xfrm>
          <a:prstGeom prst="roundRect">
            <a:avLst>
              <a:gd name="adj" fmla="val 8000"/>
            </a:avLst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17336" y="3749039"/>
            <a:ext cx="1874519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AI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01583" y="3749039"/>
            <a:ext cx="1874519" cy="1188720"/>
          </a:xfrm>
          <a:prstGeom prst="roundRect">
            <a:avLst>
              <a:gd name="adj" fmla="val 8000"/>
            </a:avLst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01583" y="3749039"/>
            <a:ext cx="1874519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AI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85832" y="3749039"/>
            <a:ext cx="1874519" cy="1188720"/>
          </a:xfrm>
          <a:prstGeom prst="roundRect">
            <a:avLst>
              <a:gd name="adj" fmla="val 8000"/>
            </a:avLst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85832" y="3749039"/>
            <a:ext cx="1874519" cy="11887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16304F"/>
                </a:solidFill>
                <a:latin typeface="Microsoft JhengHei"/>
              </a:rPr>
              <a:t>承辦人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486400"/>
            <a:ext cx="10908792" cy="566928"/>
          </a:xfrm>
          <a:prstGeom prst="rect">
            <a:avLst/>
          </a:prstGeom>
          <a:solidFill>
            <a:srgbClr val="FFF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" y="5486400"/>
            <a:ext cx="64008" cy="566928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5504688"/>
            <a:ext cx="106070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0">
                <a:solidFill>
                  <a:srgbClr val="334455"/>
                </a:solidFill>
                <a:latin typeface="Microsoft JhengHei"/>
              </a:rPr>
              <a:t>承辦人的時間，從逐字撰擬，移到判斷與修正；每個爭點附認定、依據、卷證頁碼，採信哪一方會有什麼後果都寫清楚。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09760" cy="73152"/>
          </a:xfrm>
          <a:prstGeom prst="rect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0"/>
            <a:ext cx="2681935" cy="73152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D98E04"/>
                </a:solidFill>
                <a:latin typeface="Microsoft JhengHei"/>
              </a:rPr>
              <a:t>03 ／ 支柱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16304F"/>
                </a:solidFill>
                <a:latin typeface="Microsoft JhengHei"/>
              </a:rPr>
              <a:t>固定七個步驟，哪一步錯就修哪一步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2823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8A93A0"/>
                </a:solidFill>
                <a:latin typeface="Microsoft JhengHei"/>
              </a:rPr>
              <a:t>訴願智審臺 ｜ 2026 新北市 AI 智慧城市黑客松・法制局組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28232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50" b="0">
                <a:solidFill>
                  <a:srgbClr val="8A93A0"/>
                </a:solidFill>
                <a:latin typeface="Microsoft JhengHei"/>
              </a:rPr>
              <a:t>4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148132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1481328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16304F"/>
                </a:solidFill>
                <a:latin typeface="Microsoft JhengHei"/>
              </a:rPr>
              <a:t>讀出基本資料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03704" y="1554480"/>
            <a:ext cx="1481328" cy="1234440"/>
          </a:xfrm>
          <a:prstGeom prst="roundRect">
            <a:avLst>
              <a:gd name="adj" fmla="val 8000"/>
            </a:avLst>
          </a:prstGeom>
          <a:solidFill>
            <a:srgbClr val="F2F8F3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03704" y="1554480"/>
            <a:ext cx="1481328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16304F"/>
                </a:solidFill>
                <a:latin typeface="Microsoft JhengHei"/>
              </a:rPr>
              <a:t>期間・程序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67328" y="1554480"/>
            <a:ext cx="148132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7328" y="1554480"/>
            <a:ext cx="1481328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16304F"/>
                </a:solidFill>
                <a:latin typeface="Microsoft JhengHei"/>
              </a:rPr>
              <a:t>整理爭點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30952" y="1554480"/>
            <a:ext cx="148132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2" y="1554480"/>
            <a:ext cx="1481328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16304F"/>
                </a:solidFill>
                <a:latin typeface="Microsoft JhengHei"/>
              </a:rPr>
              <a:t>找法規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94576" y="1554480"/>
            <a:ext cx="148132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94576" y="1554480"/>
            <a:ext cx="1481328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16304F"/>
                </a:solidFill>
                <a:latin typeface="Microsoft JhengHei"/>
              </a:rPr>
              <a:t>找相似案例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1554480"/>
            <a:ext cx="148132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1554480"/>
            <a:ext cx="1481328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16304F"/>
                </a:solidFill>
                <a:latin typeface="Microsoft JhengHei"/>
              </a:rPr>
              <a:t>寫草稿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21824" y="1554480"/>
            <a:ext cx="148132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21824" y="1554480"/>
            <a:ext cx="1481328" cy="12344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16304F"/>
                </a:solidFill>
                <a:latin typeface="Microsoft JhengHei"/>
              </a:rPr>
              <a:t>承辦人修正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200400"/>
            <a:ext cx="2103120" cy="1463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600" b="1">
                <a:solidFill>
                  <a:srgbClr val="16304F"/>
                </a:solidFill>
                <a:latin typeface="Microsoft JhengHe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977639"/>
            <a:ext cx="25603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5B6573"/>
                </a:solidFill>
                <a:latin typeface="Microsoft JhengHei"/>
              </a:rPr>
              <a:t>次 AI・約 2 分鐘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291840"/>
            <a:ext cx="6035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0">
                <a:solidFill>
                  <a:srgbClr val="334455"/>
                </a:solidFill>
                <a:latin typeface="Microsoft JhengHei"/>
              </a:rPr>
              <a:t>步驟固定，結果留底。錯在哪一步，就修那一步；每個結論都指得出卷證和條號。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297680"/>
            <a:ext cx="60350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  <a:latin typeface="Microsoft JhengHei"/>
              </a:rPr>
              <a:t>期間怎麼算、該不該受理，是法條說了算，不是 AI 猜——這一步交給程式。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09760" cy="73152"/>
          </a:xfrm>
          <a:prstGeom prst="rect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0"/>
            <a:ext cx="2681935" cy="73152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D98E04"/>
                </a:solidFill>
                <a:latin typeface="Microsoft JhengHei"/>
              </a:rPr>
              <a:t>04 ／ 支柱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16304F"/>
                </a:solidFill>
                <a:latin typeface="Microsoft JhengHei"/>
              </a:rPr>
              <a:t>承辦人說改哪裡，系統改哪裡，改了什麼都有交代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2823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8A93A0"/>
                </a:solidFill>
                <a:latin typeface="Microsoft JhengHei"/>
              </a:rPr>
              <a:t>訴願智審臺 ｜ 2026 新北市 AI 智慧城市黑客松・法制局組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28232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50" b="0">
                <a:solidFill>
                  <a:srgbClr val="8A93A0"/>
                </a:solidFill>
                <a:latin typeface="Microsoft JhengHei"/>
              </a:rPr>
              <a:t>5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59" y="1691640"/>
            <a:ext cx="411480" cy="411480"/>
          </a:xfrm>
          <a:prstGeom prst="ellipse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9456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16304F"/>
                </a:solidFill>
                <a:latin typeface="Microsoft JhengHei"/>
              </a:rPr>
              <a:t>承辦人指出問題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80"/>
            <a:ext cx="228600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334455"/>
                </a:solidFill>
                <a:latin typeface="Microsoft JhengHei"/>
              </a:rPr>
              <a:t>「爭點 2 改採信訴願人，因為影片 00:14 看不到拋擲」
可多點、可附卷證依據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150876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84448" y="1691640"/>
            <a:ext cx="411480" cy="411480"/>
          </a:xfrm>
          <a:prstGeom prst="ellipse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219456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16304F"/>
                </a:solidFill>
                <a:latin typeface="Microsoft JhengHei"/>
              </a:rPr>
              <a:t>系統算出牽動哪幾步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697480"/>
            <a:ext cx="228600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334455"/>
                </a:solidFill>
                <a:latin typeface="Microsoft JhengHei"/>
              </a:rPr>
              <a:t>爭點 → 法規 → 相似案例 → 草稿
只重算這幾步，其他不動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50876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45936" y="1691640"/>
            <a:ext cx="411480" cy="411480"/>
          </a:xfrm>
          <a:prstGeom prst="ellipse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16304F"/>
                </a:solidFill>
                <a:latin typeface="Microsoft JhengHei"/>
              </a:rPr>
              <a:t>改前改後並排，點確認才生效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697480"/>
            <a:ext cx="228600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334455"/>
                </a:solidFill>
                <a:latin typeface="Microsoft JhengHei"/>
              </a:rPr>
              <a:t>改成什麼樣，先看見
取消則原樣不動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4544" y="150876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FFF8EA"/>
          </a:solidFill>
          <a:ln w="19050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07424" y="1691640"/>
            <a:ext cx="411480" cy="411480"/>
          </a:xfrm>
          <a:prstGeom prst="ellipse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2194560"/>
            <a:ext cx="22860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>
                <a:solidFill>
                  <a:srgbClr val="16304F"/>
                </a:solidFill>
                <a:latin typeface="Microsoft JhengHei"/>
              </a:rPr>
              <a:t>每一點都回覆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2697480"/>
            <a:ext cx="228600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50" b="0">
                <a:solidFill>
                  <a:srgbClr val="334455"/>
                </a:solidFill>
                <a:latin typeface="Microsoft JhengHei"/>
              </a:rPr>
              <a:t>採納、部分採納、或不採納
附理由，留紀錄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120640"/>
            <a:ext cx="10908792" cy="566928"/>
          </a:xfrm>
          <a:prstGeom prst="rect">
            <a:avLst/>
          </a:prstGeom>
          <a:solidFill>
            <a:srgbClr val="FFF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120640"/>
            <a:ext cx="64008" cy="566928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138927"/>
            <a:ext cx="106070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0">
                <a:solidFill>
                  <a:srgbClr val="334455"/>
                </a:solidFill>
                <a:latin typeface="Microsoft JhengHei"/>
              </a:rPr>
              <a:t>助手有據才答：法條、決定書、本案卷證，查不到就說查不到；查到的，一鍵變成修正意見。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09760" cy="73152"/>
          </a:xfrm>
          <a:prstGeom prst="rect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0"/>
            <a:ext cx="2681935" cy="73152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D98E04"/>
                </a:solidFill>
                <a:latin typeface="Microsoft JhengHei"/>
              </a:rPr>
              <a:t>05 ／ 支柱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16304F"/>
                </a:solidFill>
                <a:latin typeface="Microsoft JhengHei"/>
              </a:rPr>
              <a:t>數據飛輪：決定書人人有，卷證只能自己攢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2823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8A93A0"/>
                </a:solidFill>
                <a:latin typeface="Microsoft JhengHei"/>
              </a:rPr>
              <a:t>訴願智審臺 ｜ 2026 新北市 AI 智慧城市黑客松・法制局組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28232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50" b="0">
                <a:solidFill>
                  <a:srgbClr val="8A93A0"/>
                </a:solidFill>
                <a:latin typeface="Microsoft JhengHei"/>
              </a:rPr>
              <a:t>6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5029200" cy="26517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4592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>
                <a:solidFill>
                  <a:srgbClr val="16304F"/>
                </a:solidFill>
                <a:latin typeface="Microsoft JhengHei"/>
              </a:rPr>
              <a:t>為什麼只能自己累積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57400"/>
            <a:ext cx="45720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334455"/>
                </a:solidFill>
                <a:latin typeface="Microsoft JhengHei"/>
              </a:rPr>
              <a:t>・訴願法 §58 III／IV：答辯書只存在於機關、受理機關卷內、訴願人手上，沒有公開機制
・訴願法 §49、§75 II：卷宗閱覽限訴願人、參加人、代理人
・決定書到處都是，答辯書一份難求——制度使然。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400"/>
            <a:ext cx="5029200" cy="1143000"/>
          </a:xfrm>
          <a:prstGeom prst="rect">
            <a:avLst/>
          </a:prstGeom>
          <a:solidFill>
            <a:srgbClr val="FFF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343400"/>
            <a:ext cx="64008" cy="1143000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370832"/>
            <a:ext cx="475488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>
                <a:solidFill>
                  <a:srgbClr val="334455"/>
                </a:solidFill>
                <a:latin typeface="Microsoft JhengHei"/>
              </a:rPr>
              <a:t>中途補件走同一條路：一句「補這份」，只認新檔、只重算牽動的步驟。</a:t>
            </a:r>
          </a:p>
        </p:txBody>
      </p:sp>
      <p:sp>
        <p:nvSpPr>
          <p:cNvPr id="15" name="Oval 14"/>
          <p:cNvSpPr/>
          <p:nvPr/>
        </p:nvSpPr>
        <p:spPr>
          <a:xfrm>
            <a:off x="7360919" y="2103120"/>
            <a:ext cx="2834640" cy="2834640"/>
          </a:xfrm>
          <a:prstGeom prst="ellipse">
            <a:avLst/>
          </a:prstGeom>
          <a:noFill/>
          <a:ln w="50800">
            <a:solidFill>
              <a:srgbClr val="D98E0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3246120"/>
            <a:ext cx="18288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D98E04"/>
                </a:solidFill>
                <a:latin typeface="Microsoft JhengHei"/>
              </a:rPr>
              <a:t>越用越準</a:t>
            </a:r>
          </a:p>
        </p:txBody>
      </p:sp>
      <p:sp>
        <p:nvSpPr>
          <p:cNvPr id="17" name="Oval 16"/>
          <p:cNvSpPr/>
          <p:nvPr/>
        </p:nvSpPr>
        <p:spPr>
          <a:xfrm>
            <a:off x="8366760" y="1691639"/>
            <a:ext cx="822960" cy="822960"/>
          </a:xfrm>
          <a:prstGeom prst="ellipse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辦案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868679"/>
            <a:ext cx="20116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50" b="0">
                <a:solidFill>
                  <a:srgbClr val="334455"/>
                </a:solidFill>
                <a:latin typeface="Microsoft JhengHei"/>
              </a:rPr>
              <a:t>承辦人上傳卷宗、答辯書</a:t>
            </a:r>
          </a:p>
        </p:txBody>
      </p:sp>
      <p:sp>
        <p:nvSpPr>
          <p:cNvPr id="19" name="Oval 18"/>
          <p:cNvSpPr/>
          <p:nvPr/>
        </p:nvSpPr>
        <p:spPr>
          <a:xfrm>
            <a:off x="9714711" y="2670984"/>
            <a:ext cx="822960" cy="822960"/>
          </a:xfrm>
          <a:prstGeom prst="ellipse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分類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76962" y="2543042"/>
            <a:ext cx="20116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334455"/>
                </a:solidFill>
                <a:latin typeface="Microsoft JhengHei"/>
              </a:rPr>
              <a:t>27 類文件，自動命名</a:t>
            </a:r>
          </a:p>
        </p:txBody>
      </p:sp>
      <p:sp>
        <p:nvSpPr>
          <p:cNvPr id="21" name="Oval 20"/>
          <p:cNvSpPr/>
          <p:nvPr/>
        </p:nvSpPr>
        <p:spPr>
          <a:xfrm>
            <a:off x="9199839" y="4255595"/>
            <a:ext cx="822960" cy="822960"/>
          </a:xfrm>
          <a:prstGeom prst="ellipse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6697" y="5252217"/>
            <a:ext cx="20116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334455"/>
                </a:solidFill>
                <a:latin typeface="Microsoft JhengHei"/>
              </a:rPr>
              <a:t>查法規庫、找相似案例、寫草稿</a:t>
            </a:r>
          </a:p>
        </p:txBody>
      </p:sp>
      <p:sp>
        <p:nvSpPr>
          <p:cNvPr id="23" name="Oval 22"/>
          <p:cNvSpPr/>
          <p:nvPr/>
        </p:nvSpPr>
        <p:spPr>
          <a:xfrm>
            <a:off x="7533680" y="4255595"/>
            <a:ext cx="822960" cy="822960"/>
          </a:xfrm>
          <a:prstGeom prst="ellipse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修正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8102" y="5252217"/>
            <a:ext cx="20116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50" b="0">
                <a:solidFill>
                  <a:srgbClr val="334455"/>
                </a:solidFill>
                <a:latin typeface="Microsoft JhengHei"/>
              </a:rPr>
              <a:t>承辦人確認或修改</a:t>
            </a:r>
          </a:p>
        </p:txBody>
      </p:sp>
      <p:sp>
        <p:nvSpPr>
          <p:cNvPr id="25" name="Oval 24"/>
          <p:cNvSpPr/>
          <p:nvPr/>
        </p:nvSpPr>
        <p:spPr>
          <a:xfrm>
            <a:off x="7018808" y="2670984"/>
            <a:ext cx="822960" cy="822960"/>
          </a:xfrm>
          <a:prstGeom prst="ellipse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入庫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67837" y="2543042"/>
            <a:ext cx="201168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50" b="0">
                <a:solidFill>
                  <a:srgbClr val="334455"/>
                </a:solidFill>
                <a:latin typeface="Microsoft JhengHei"/>
              </a:rPr>
              <a:t>下一案的相似案例＋法規版本更新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09760" cy="73152"/>
          </a:xfrm>
          <a:prstGeom prst="rect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0"/>
            <a:ext cx="2681935" cy="73152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D98E04"/>
                </a:solidFill>
                <a:latin typeface="Microsoft JhengHei"/>
              </a:rPr>
              <a:t>06 ／ 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16304F"/>
                </a:solidFill>
                <a:latin typeface="Microsoft JhengHei"/>
              </a:rPr>
              <a:t>承辦人只做五件事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2823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8A93A0"/>
                </a:solidFill>
                <a:latin typeface="Microsoft JhengHei"/>
              </a:rPr>
              <a:t>訴願智審臺 ｜ 2026 新北市 AI 智慧城市黑客松・法制局組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28232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50" b="0">
                <a:solidFill>
                  <a:srgbClr val="8A93A0"/>
                </a:solidFill>
                <a:latin typeface="Microsoft JhengHei"/>
              </a:rPr>
              <a:t>7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1600200"/>
            <a:ext cx="1097280" cy="1097280"/>
          </a:xfrm>
          <a:prstGeom prst="roundRect">
            <a:avLst>
              <a:gd name="adj" fmla="val 2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17319" y="1874519"/>
            <a:ext cx="548640" cy="548640"/>
          </a:xfrm>
          <a:prstGeom prst="ellipse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2103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16304F"/>
                </a:solidFill>
                <a:latin typeface="Microsoft JhengHei"/>
              </a:rPr>
              <a:t>上傳卷宗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21031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5B6573"/>
                </a:solidFill>
                <a:latin typeface="Microsoft JhengHei"/>
              </a:rPr>
              <a:t>訴願書、答辯書、卷證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600200"/>
            <a:ext cx="1097280" cy="1097280"/>
          </a:xfrm>
          <a:prstGeom prst="roundRect">
            <a:avLst>
              <a:gd name="adj" fmla="val 2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30168" y="1874519"/>
            <a:ext cx="548640" cy="548640"/>
          </a:xfrm>
          <a:prstGeom prst="ellipse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8" y="2834640"/>
            <a:ext cx="2103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16304F"/>
                </a:solidFill>
                <a:latin typeface="Microsoft JhengHei"/>
              </a:rPr>
              <a:t>自動分類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2928" y="3337560"/>
            <a:ext cx="21031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5B6573"/>
                </a:solidFill>
                <a:latin typeface="Microsoft JhengHei"/>
              </a:rPr>
              <a:t>27 類・自動命名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68696" y="1600200"/>
            <a:ext cx="1097280" cy="1097280"/>
          </a:xfrm>
          <a:prstGeom prst="roundRect">
            <a:avLst>
              <a:gd name="adj" fmla="val 2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43016" y="1874519"/>
            <a:ext cx="548640" cy="548640"/>
          </a:xfrm>
          <a:prstGeom prst="ellipse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6" y="2834640"/>
            <a:ext cx="2103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16304F"/>
                </a:solidFill>
                <a:latin typeface="Microsoft JhengHei"/>
              </a:rPr>
              <a:t>看分析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3337560"/>
            <a:ext cx="21031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5B6573"/>
                </a:solidFill>
                <a:latin typeface="Microsoft JhengHei"/>
              </a:rPr>
              <a:t>基本資料・爭點・法規・相似案例・草稿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81544" y="1600200"/>
            <a:ext cx="1097280" cy="1097280"/>
          </a:xfrm>
          <a:prstGeom prst="roundRect">
            <a:avLst>
              <a:gd name="adj" fmla="val 2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55864" y="1874519"/>
            <a:ext cx="548640" cy="548640"/>
          </a:xfrm>
          <a:prstGeom prst="ellipse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8624" y="2834640"/>
            <a:ext cx="2103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16304F"/>
                </a:solidFill>
                <a:latin typeface="Microsoft JhengHei"/>
              </a:rPr>
              <a:t>提出修正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78624" y="3337560"/>
            <a:ext cx="21031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5B6573"/>
                </a:solidFill>
                <a:latin typeface="Microsoft JhengHei"/>
              </a:rPr>
              <a:t>「爭點 2 改採信訴願人」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94392" y="1600200"/>
            <a:ext cx="1097280" cy="1097280"/>
          </a:xfrm>
          <a:prstGeom prst="roundRect">
            <a:avLst>
              <a:gd name="adj" fmla="val 2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68711" y="1874519"/>
            <a:ext cx="548640" cy="548640"/>
          </a:xfrm>
          <a:prstGeom prst="ellipse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1472" y="2834640"/>
            <a:ext cx="21031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2000" b="1">
                <a:solidFill>
                  <a:srgbClr val="16304F"/>
                </a:solidFill>
                <a:latin typeface="Microsoft JhengHei"/>
              </a:rPr>
              <a:t>確認送審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91472" y="3337560"/>
            <a:ext cx="21031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0">
                <a:solidFill>
                  <a:srgbClr val="5B6573"/>
                </a:solidFill>
                <a:latin typeface="Microsoft JhengHei"/>
              </a:rPr>
              <a:t>草稿 v1／v2 可回溯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623560"/>
            <a:ext cx="10908792" cy="566928"/>
          </a:xfrm>
          <a:prstGeom prst="rect">
            <a:avLst/>
          </a:prstGeom>
          <a:solidFill>
            <a:srgbClr val="FFF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5623560"/>
            <a:ext cx="64008" cy="566928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641848"/>
            <a:ext cx="106070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0">
                <a:solidFill>
                  <a:srgbClr val="334455"/>
                </a:solidFill>
                <a:latin typeface="Microsoft JhengHei"/>
              </a:rPr>
              <a:t>示範案例：亂丟煙蒂案（廢清法）。20 頁卷宗加一段影片，90 秒分好類，2 分鐘出分析。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09760" cy="73152"/>
          </a:xfrm>
          <a:prstGeom prst="rect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0"/>
            <a:ext cx="2681935" cy="73152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D98E04"/>
                </a:solidFill>
                <a:latin typeface="Microsoft JhengHei"/>
              </a:rPr>
              <a:t>07 ／ 順手做到的事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16304F"/>
                </a:solidFill>
                <a:latin typeface="Microsoft JhengHei"/>
              </a:rPr>
              <a:t>卷宗照原樣丟進來就好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2823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8A93A0"/>
                </a:solidFill>
                <a:latin typeface="Microsoft JhengHei"/>
              </a:rPr>
              <a:t>訴願智審臺 ｜ 2026 新北市 AI 智慧城市黑客松・法制局組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28232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50" b="0">
                <a:solidFill>
                  <a:srgbClr val="8A93A0"/>
                </a:solidFill>
                <a:latin typeface="Microsoft JhengHei"/>
              </a:rPr>
              <a:t>8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08760"/>
            <a:ext cx="4754880" cy="29718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91640"/>
            <a:ext cx="43891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5B6573"/>
                </a:solidFill>
                <a:latin typeface="Microsoft JhengHei"/>
              </a:rPr>
              <a:t>IMG_3985.jpg
scan_0001.pdf
文件(2).pdf
DASHCAM_0627.mp4
掃描全卷.pdf（20 頁）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651760"/>
            <a:ext cx="11887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4000" b="1">
                <a:solidFill>
                  <a:srgbClr val="D98E04"/>
                </a:solidFill>
                <a:latin typeface="Microsoft Jheng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1508760"/>
            <a:ext cx="4754880" cy="2971800"/>
          </a:xfrm>
          <a:prstGeom prst="roundRect">
            <a:avLst>
              <a:gd name="adj" fmla="val 8000"/>
            </a:avLst>
          </a:prstGeom>
          <a:solidFill>
            <a:srgbClr val="FFF8EA"/>
          </a:solidFill>
          <a:ln w="19050">
            <a:solidFill>
              <a:srgbClr val="D98E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95160" y="1691640"/>
            <a:ext cx="43891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>
                <a:solidFill>
                  <a:srgbClr val="0F2038"/>
                </a:solidFill>
                <a:latin typeface="Microsoft JhengHei"/>
              </a:rPr>
              <a:t>01- 訴願書_114-09-22
07- 裁處書_114-09-16
11- 送達證書_114-09-18
14- 採證照片 ×3
19- 採證影片 00:12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09160"/>
            <a:ext cx="2606040" cy="8229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727448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6304F"/>
                </a:solidFill>
                <a:latin typeface="Microsoft JhengHei"/>
              </a:rPr>
              <a:t>27 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3892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573"/>
                </a:solidFill>
                <a:latin typeface="Microsoft JhengHei"/>
              </a:rPr>
              <a:t>文件類型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4709160"/>
            <a:ext cx="2606040" cy="8229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4727448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6304F"/>
                </a:solidFill>
                <a:latin typeface="Microsoft JhengHei"/>
              </a:rPr>
              <a:t>20 / 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513892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573"/>
                </a:solidFill>
                <a:latin typeface="Microsoft JhengHei"/>
              </a:rPr>
              <a:t>20 份亂檔名，20 份分對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709160"/>
            <a:ext cx="2606040" cy="82296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4727448"/>
            <a:ext cx="23774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>
                <a:solidFill>
                  <a:srgbClr val="16304F"/>
                </a:solidFill>
                <a:latin typeface="Microsoft JhengHei"/>
              </a:rPr>
              <a:t>90 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5138928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0">
                <a:solidFill>
                  <a:srgbClr val="5B6573"/>
                </a:solidFill>
                <a:latin typeface="Microsoft JhengHei"/>
              </a:rPr>
              <a:t>20 份含影片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669280"/>
            <a:ext cx="10908792" cy="566928"/>
          </a:xfrm>
          <a:prstGeom prst="rect">
            <a:avLst/>
          </a:prstGeom>
          <a:solidFill>
            <a:srgbClr val="FFF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669280"/>
            <a:ext cx="64008" cy="566928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687568"/>
            <a:ext cx="106070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0">
                <a:solidFill>
                  <a:srgbClr val="334455"/>
                </a:solidFill>
                <a:latin typeface="Microsoft JhengHei"/>
              </a:rPr>
              <a:t>不用改檔名、不用轉格式；分錯了點一下就改，改動有紀錄。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09760" cy="73152"/>
          </a:xfrm>
          <a:prstGeom prst="rect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0"/>
            <a:ext cx="2681935" cy="73152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D98E04"/>
                </a:solidFill>
                <a:latin typeface="Microsoft JhengHei"/>
              </a:rPr>
              <a:t>08 ／ AWS 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16304F"/>
                </a:solidFill>
                <a:latin typeface="Microsoft JhengHei"/>
              </a:rPr>
              <a:t>一台 EC2，三個 AWS 服務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2823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8A93A0"/>
                </a:solidFill>
                <a:latin typeface="Microsoft JhengHei"/>
              </a:rPr>
              <a:t>訴願智審臺 ｜ 2026 新北市 AI 智慧城市黑客松・法制局組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28232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50" b="0">
                <a:solidFill>
                  <a:srgbClr val="8A93A0"/>
                </a:solidFill>
                <a:latin typeface="Microsoft JhengHei"/>
              </a:rPr>
              <a:t>9 / 14</a:t>
            </a:r>
          </a:p>
        </p:txBody>
      </p:sp>
      <p:pic>
        <p:nvPicPr>
          <p:cNvPr id="9" name="Picture 8" descr="aws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10424160" cy="48948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3840" y="384048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100" b="0">
                <a:solidFill>
                  <a:srgbClr val="8A93A0"/>
                </a:solidFill>
                <a:latin typeface="Microsoft JhengHei"/>
              </a:rPr>
              <a:t>全部在競賽允許清單內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09760" cy="73152"/>
          </a:xfrm>
          <a:prstGeom prst="rect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0"/>
            <a:ext cx="2681935" cy="73152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D98E04"/>
                </a:solidFill>
                <a:latin typeface="Microsoft JhengHei"/>
              </a:rPr>
              <a:t>09 ／ 可信度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16304F"/>
                </a:solidFill>
                <a:latin typeface="Microsoft JhengHei"/>
              </a:rPr>
              <a:t>AI 會犯的四種錯，四道關卡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2823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8A93A0"/>
                </a:solidFill>
                <a:latin typeface="Microsoft JhengHei"/>
              </a:rPr>
              <a:t>訴願智審臺 ｜ 2026 新北市 AI 智慧城市黑客松・法制局組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28232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50" b="0">
                <a:solidFill>
                  <a:srgbClr val="8A93A0"/>
                </a:solidFill>
                <a:latin typeface="Microsoft JhengHei"/>
              </a:rPr>
              <a:t>10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2606040" cy="38404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08760" y="1828800"/>
            <a:ext cx="868680" cy="868680"/>
          </a:xfrm>
          <a:prstGeom prst="ellipse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16304F"/>
                </a:solidFill>
                <a:latin typeface="Microsoft JhengHei"/>
              </a:rPr>
              <a:t>捏造條號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383280"/>
            <a:ext cx="224028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50" b="0">
                <a:solidFill>
                  <a:srgbClr val="334455"/>
                </a:solidFill>
                <a:latin typeface="Microsoft JhengHei"/>
              </a:rPr>
              <a:t>11 部法規逐條比對；查無就標「未收錄」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1554480"/>
            <a:ext cx="2606040" cy="38404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70248" y="1828800"/>
            <a:ext cx="868680" cy="868680"/>
          </a:xfrm>
          <a:prstGeom prst="ellipse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7" y="2880360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16304F"/>
                </a:solidFill>
                <a:latin typeface="Microsoft JhengHei"/>
              </a:rPr>
              <a:t>引文對不上卷證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383280"/>
            <a:ext cx="224028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50" b="0">
                <a:solidFill>
                  <a:srgbClr val="334455"/>
                </a:solidFill>
                <a:latin typeface="Microsoft JhengHei"/>
              </a:rPr>
              <a:t>每句引文回查原文；查不到就標示為未驗證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554480"/>
            <a:ext cx="2606040" cy="38404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31736" y="1828800"/>
            <a:ext cx="868680" cy="868680"/>
          </a:xfrm>
          <a:prstGeom prst="ellipse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880360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16304F"/>
                </a:solidFill>
                <a:latin typeface="Microsoft JhengHei"/>
              </a:rPr>
              <a:t>引到過期法規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3383280"/>
            <a:ext cx="224028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50" b="0">
                <a:solidFill>
                  <a:srgbClr val="334455"/>
                </a:solidFill>
                <a:latin typeface="Microsoft JhengHei"/>
              </a:rPr>
              <a:t>行為時／裁處時／決定時三個時點比對，修正過就提示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4544" y="1554480"/>
            <a:ext cx="2606040" cy="384048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93224" y="1828800"/>
            <a:ext cx="868680" cy="868680"/>
          </a:xfrm>
          <a:prstGeom prst="ellipse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1704" y="2880360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800" b="1">
                <a:solidFill>
                  <a:srgbClr val="16304F"/>
                </a:solidFill>
                <a:latin typeface="Microsoft JhengHei"/>
              </a:rPr>
              <a:t>誤判程序結論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3383280"/>
            <a:ext cx="224028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50" b="0">
                <a:solidFill>
                  <a:srgbClr val="334455"/>
                </a:solidFill>
                <a:latin typeface="Microsoft JhengHei"/>
              </a:rPr>
              <a:t>不受理／駁回／撤銷由程式決定，AI 只寫理由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09760" cy="73152"/>
          </a:xfrm>
          <a:prstGeom prst="rect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0"/>
            <a:ext cx="2681935" cy="73152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D98E04"/>
                </a:solidFill>
                <a:latin typeface="Microsoft JhengHei"/>
              </a:rPr>
              <a:t>10 ／ 資料應用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16304F"/>
                </a:solidFill>
                <a:latin typeface="Microsoft JhengHei"/>
              </a:rPr>
              <a:t>先把 101 份決定書讀完，才決定系統怎麼設計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2823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8A93A0"/>
                </a:solidFill>
                <a:latin typeface="Microsoft JhengHei"/>
              </a:rPr>
              <a:t>訴願智審臺 ｜ 2026 新北市 AI 智慧城市黑客松・法制局組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28232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50" b="0">
                <a:solidFill>
                  <a:srgbClr val="8A93A0"/>
                </a:solidFill>
                <a:latin typeface="Microsoft JhengHei"/>
              </a:rPr>
              <a:t>11 / 14</a:t>
            </a:r>
          </a:p>
        </p:txBody>
      </p:sp>
      <p:sp>
        <p:nvSpPr>
          <p:cNvPr id="9" name="Block Arc 8"/>
          <p:cNvSpPr/>
          <p:nvPr/>
        </p:nvSpPr>
        <p:spPr>
          <a:xfrm>
            <a:off x="822960" y="1600200"/>
            <a:ext cx="3566160" cy="3566160"/>
          </a:xfrm>
          <a:prstGeom prst="blockArc">
            <a:avLst>
              <a:gd name="adj1" fmla="val -9000000"/>
              <a:gd name="adj2" fmla="val 15840000"/>
              <a:gd name="adj3" fmla="val 20000"/>
            </a:avLst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lock Arc 9"/>
          <p:cNvSpPr/>
          <p:nvPr/>
        </p:nvSpPr>
        <p:spPr>
          <a:xfrm>
            <a:off x="822960" y="1600200"/>
            <a:ext cx="3566160" cy="3566160"/>
          </a:xfrm>
          <a:prstGeom prst="blockArc">
            <a:avLst>
              <a:gd name="adj1" fmla="val 15840000"/>
              <a:gd name="adj2" fmla="val 21240000"/>
              <a:gd name="adj3" fmla="val 20000"/>
            </a:avLst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lock Arc 10"/>
          <p:cNvSpPr/>
          <p:nvPr/>
        </p:nvSpPr>
        <p:spPr>
          <a:xfrm>
            <a:off x="822960" y="1600200"/>
            <a:ext cx="3566160" cy="3566160"/>
          </a:xfrm>
          <a:prstGeom prst="blockArc">
            <a:avLst>
              <a:gd name="adj1" fmla="val 21240000"/>
              <a:gd name="adj2" fmla="val 26639999"/>
              <a:gd name="adj3" fmla="val 2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35661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4400" b="1">
                <a:solidFill>
                  <a:srgbClr val="16304F"/>
                </a:solidFill>
                <a:latin typeface="Microsoft JhengHei"/>
              </a:rPr>
              <a:t>69%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400" b="0">
                <a:solidFill>
                  <a:srgbClr val="5B6573"/>
                </a:solidFill>
                <a:latin typeface="Microsoft JhengHei"/>
              </a:rPr>
              <a:t>不受理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3566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>
                <a:solidFill>
                  <a:srgbClr val="8A93A0"/>
                </a:solidFill>
                <a:latin typeface="Microsoft JhengHei"/>
              </a:rPr>
              <a:t>駁回 15%・撤銷 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737360"/>
            <a:ext cx="66751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400" b="1">
                <a:solidFill>
                  <a:srgbClr val="16304F"/>
                </a:solidFill>
                <a:latin typeface="Microsoft JhengHei"/>
              </a:rPr>
              <a:t>七成案子在程序就結束了。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880360"/>
            <a:ext cx="66751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5B6573"/>
                </a:solidFill>
                <a:latin typeface="Microsoft JhengHei"/>
              </a:rPr>
              <a:t>所以期間交給程式算；不受理的案子，草稿一個字都不碰實體。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46320" y="40233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56048" y="4050791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6304F"/>
                </a:solidFill>
                <a:latin typeface="Microsoft JhengHei"/>
              </a:rPr>
              <a:t>法規 11 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4480560"/>
            <a:ext cx="1920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Microsoft JhengHei"/>
              </a:rPr>
              <a:t>逐條比對＋知識庫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40233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96328" y="4050791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6304F"/>
                </a:solidFill>
                <a:latin typeface="Microsoft JhengHei"/>
              </a:rPr>
              <a:t>判解 19・函釋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6328" y="4480560"/>
            <a:ext cx="1920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Microsoft JhengHei"/>
              </a:rPr>
              <a:t>進知識庫並標註類型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40233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36607" y="4050791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6304F"/>
                </a:solidFill>
                <a:latin typeface="Microsoft JhengHei"/>
              </a:rPr>
              <a:t>自行補 3 個缺口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6607" y="4480560"/>
            <a:ext cx="1920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5B6573"/>
                </a:solidFill>
                <a:latin typeface="Microsoft JhengHei"/>
              </a:rPr>
              <a:t>政資法・洗錢判準・空污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09760" cy="73152"/>
          </a:xfrm>
          <a:prstGeom prst="rect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0"/>
            <a:ext cx="2681935" cy="73152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D98E04"/>
                </a:solidFill>
                <a:latin typeface="Microsoft JhengHei"/>
              </a:rPr>
              <a:t>10 ／ 資料應用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16304F"/>
                </a:solidFill>
                <a:latin typeface="Microsoft JhengHei"/>
              </a:rPr>
              <a:t>拿不到答辯書和卷宗，就自己出三套考題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2823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8A93A0"/>
                </a:solidFill>
                <a:latin typeface="Microsoft JhengHei"/>
              </a:rPr>
              <a:t>訴願智審臺 ｜ 2026 新北市 AI 智慧城市黑客松・法制局組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28232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50" b="0">
                <a:solidFill>
                  <a:srgbClr val="8A93A0"/>
                </a:solidFill>
                <a:latin typeface="Microsoft JhengHei"/>
              </a:rPr>
              <a:t>12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352044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691640"/>
            <a:ext cx="3108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1">
                <a:solidFill>
                  <a:srgbClr val="D98E04"/>
                </a:solidFill>
                <a:latin typeface="Microsoft JhengHei"/>
              </a:rPr>
              <a:t>CASE 01 ／ 建築法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011680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16304F"/>
                </a:solidFill>
                <a:latin typeface="Microsoft JhengHei"/>
              </a:rPr>
              <a:t>訴願人遲了 7 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7" y="2606040"/>
            <a:ext cx="1188720" cy="411480"/>
          </a:xfrm>
          <a:prstGeom prst="roundRect">
            <a:avLst>
              <a:gd name="adj" fmla="val 8000"/>
            </a:avLst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606040"/>
            <a:ext cx="11887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不受理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154680"/>
            <a:ext cx="310896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50" b="0">
                <a:solidFill>
                  <a:srgbClr val="334455"/>
                </a:solidFill>
                <a:latin typeface="Microsoft JhengHei"/>
              </a:rPr>
              <a:t>卷宗塞滿實質理由和照片當干擾；正確答案仍是程序不受理，不能寫任何實質認定。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5112" y="1554480"/>
            <a:ext cx="352044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691640"/>
            <a:ext cx="3108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1">
                <a:solidFill>
                  <a:srgbClr val="D98E04"/>
                </a:solidFill>
                <a:latin typeface="Microsoft JhengHei"/>
              </a:rPr>
              <a:t>CASE 02 ／ 廢清法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011680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16304F"/>
                </a:solidFill>
                <a:latin typeface="Microsoft JhengHei"/>
              </a:rPr>
              <a:t>亂丟煙蒂，說沒丟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2606040"/>
            <a:ext cx="1188720" cy="411480"/>
          </a:xfrm>
          <a:prstGeom prst="roundRect">
            <a:avLst>
              <a:gd name="adj" fmla="val 8000"/>
            </a:avLst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2606040"/>
            <a:ext cx="11887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駁回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154680"/>
            <a:ext cx="310896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50" b="0">
                <a:solidFill>
                  <a:srgbClr val="334455"/>
                </a:solidFill>
                <a:latin typeface="Microsoft JhengHei"/>
              </a:rPr>
              <a:t>影片 00:14 拋擲、00:19 煙蒂還在；訴願書寫的收受日和送達證書差 2 天，要以證書為準。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0144" y="1554480"/>
            <a:ext cx="352044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11312" y="1691640"/>
            <a:ext cx="3108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1">
                <a:solidFill>
                  <a:srgbClr val="D98E04"/>
                </a:solidFill>
                <a:latin typeface="Microsoft JhengHei"/>
              </a:rPr>
              <a:t>CASE 03 ／ 建築法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011680"/>
            <a:ext cx="310896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000" b="1">
                <a:solidFill>
                  <a:srgbClr val="16304F"/>
                </a:solidFill>
                <a:latin typeface="Microsoft JhengHei"/>
              </a:rPr>
              <a:t>政府遲了 26 天才罰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11312" y="2606040"/>
            <a:ext cx="1188720" cy="411480"/>
          </a:xfrm>
          <a:prstGeom prst="roundRect">
            <a:avLst>
              <a:gd name="adj" fmla="val 8000"/>
            </a:avLst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2606040"/>
            <a:ext cx="118872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撤銷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3154680"/>
            <a:ext cx="310896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50" b="0">
                <a:solidFill>
                  <a:srgbClr val="334455"/>
                </a:solidFill>
                <a:latin typeface="Microsoft JhengHei"/>
              </a:rPr>
              <a:t>簽證不實證據很強，但三年裁處權時效已過；答辯書迴避不答，系統必須自行從卷內算出時效。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623560"/>
            <a:ext cx="10908792" cy="566928"/>
          </a:xfrm>
          <a:prstGeom prst="rect">
            <a:avLst/>
          </a:prstGeom>
          <a:solidFill>
            <a:srgbClr val="FFF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623560"/>
            <a:ext cx="64008" cy="566928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641848"/>
            <a:ext cx="106070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0">
                <a:solidFill>
                  <a:srgbClr val="334455"/>
                </a:solidFill>
                <a:latin typeface="Microsoft JhengHei"/>
              </a:rPr>
              <a:t>每案 30 頁真實格式卷宗（掃描、手寫、系統截圖、影片）；對應決定書從知識庫排除，系統不能「認出答案」。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09760" cy="73152"/>
          </a:xfrm>
          <a:prstGeom prst="rect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09760" y="0"/>
            <a:ext cx="2681935" cy="73152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>
                <a:solidFill>
                  <a:srgbClr val="D98E04"/>
                </a:solidFill>
                <a:latin typeface="Microsoft JhengHei"/>
              </a:rPr>
              <a:t>11 ／ 完成度與評分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109728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800" b="1">
                <a:solidFill>
                  <a:srgbClr val="16304F"/>
                </a:solidFill>
                <a:latin typeface="Microsoft JhengHei"/>
              </a:rPr>
              <a:t>今天做到哪裡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08792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28232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>
                <a:solidFill>
                  <a:srgbClr val="8A93A0"/>
                </a:solidFill>
                <a:latin typeface="Microsoft JhengHei"/>
              </a:rPr>
              <a:t>訴願智審臺 ｜ 2026 新北市 AI 智慧城市黑客松・法制局組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28232"/>
            <a:ext cx="94183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950" b="0">
                <a:solidFill>
                  <a:srgbClr val="8A93A0"/>
                </a:solidFill>
                <a:latin typeface="Microsoft JhengHei"/>
              </a:rPr>
              <a:t>13 / 14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691639"/>
            <a:ext cx="228600" cy="2286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43891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6304F"/>
                </a:solidFill>
                <a:latin typeface="Microsoft JhengHei"/>
              </a:rPr>
              <a:t>卷證分類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29967"/>
            <a:ext cx="4754880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2194560"/>
            <a:ext cx="228600" cy="2286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057400"/>
            <a:ext cx="43891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6304F"/>
                </a:solidFill>
                <a:latin typeface="Microsoft JhengHei"/>
              </a:rPr>
              <a:t>五項分析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32888"/>
            <a:ext cx="4754880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697479"/>
            <a:ext cx="228600" cy="2286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560320"/>
            <a:ext cx="43891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6304F"/>
                </a:solidFill>
                <a:latin typeface="Microsoft JhengHei"/>
              </a:rPr>
              <a:t>修正 → 確認 → 局部重算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35808"/>
            <a:ext cx="4754880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200400"/>
            <a:ext cx="228600" cy="2286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063240"/>
            <a:ext cx="43891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6304F"/>
                </a:solidFill>
                <a:latin typeface="Microsoft JhengHei"/>
              </a:rPr>
              <a:t>法規庫同步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38728"/>
            <a:ext cx="4754880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3703320"/>
            <a:ext cx="228600" cy="2286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566160"/>
            <a:ext cx="43891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6304F"/>
                </a:solidFill>
                <a:latin typeface="Microsoft JhengHei"/>
              </a:rPr>
              <a:t>畫面全部連到線上系統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041648"/>
            <a:ext cx="4754880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" y="4206240"/>
            <a:ext cx="228600" cy="22860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069080"/>
            <a:ext cx="43891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6304F"/>
                </a:solidFill>
                <a:latin typeface="Microsoft JhengHei"/>
              </a:rPr>
              <a:t>自動化測試 52 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544568"/>
            <a:ext cx="4754880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4709160"/>
            <a:ext cx="228600" cy="228600"/>
          </a:xfrm>
          <a:prstGeom prst="ellipse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572000"/>
            <a:ext cx="43891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6304F"/>
                </a:solidFill>
                <a:latin typeface="Microsoft JhengHei"/>
              </a:rPr>
              <a:t>補件辨識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047488"/>
            <a:ext cx="4754880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0080" y="5212080"/>
            <a:ext cx="228600" cy="228600"/>
          </a:xfrm>
          <a:prstGeom prst="ellipse">
            <a:avLst/>
          </a:prstGeom>
          <a:solidFill>
            <a:srgbClr val="C5C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074920"/>
            <a:ext cx="4389120" cy="5029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0">
                <a:solidFill>
                  <a:srgbClr val="16304F"/>
                </a:solidFill>
                <a:latin typeface="Microsoft JhengHei"/>
              </a:rPr>
              <a:t>登入／HTTPS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550408"/>
            <a:ext cx="4754880" cy="91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943600" y="155448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08192" y="1664207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6304F"/>
                </a:solidFill>
                <a:latin typeface="Microsoft JhengHei"/>
              </a:rPr>
              <a:t>20%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08192" y="228600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6304F"/>
                </a:solidFill>
                <a:latin typeface="Microsoft JhengHei"/>
              </a:rPr>
              <a:t>技術可行性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8192" y="2633472"/>
            <a:ext cx="2377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334455"/>
                </a:solidFill>
                <a:latin typeface="Microsoft JhengHei"/>
              </a:rPr>
              <a:t>允許清單內；呼叫頻率限制下固定流程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78240" y="155448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42832" y="1664207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6304F"/>
                </a:solidFill>
                <a:latin typeface="Microsoft JhengHei"/>
              </a:rPr>
              <a:t>25%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42832" y="228600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6304F"/>
                </a:solidFill>
                <a:latin typeface="Microsoft JhengHei"/>
              </a:rPr>
              <a:t>完成度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42832" y="2633472"/>
            <a:ext cx="2377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334455"/>
                </a:solidFill>
                <a:latin typeface="Microsoft JhengHei"/>
              </a:rPr>
              <a:t>Live Demo 走完整流程；52 個測試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0" y="338328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08192" y="3493008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6304F"/>
                </a:solidFill>
                <a:latin typeface="Microsoft JhengHei"/>
              </a:rPr>
              <a:t>30%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08192" y="411480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6304F"/>
                </a:solidFill>
                <a:latin typeface="Microsoft JhengHei"/>
              </a:rPr>
              <a:t>資料應用性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08192" y="4462272"/>
            <a:ext cx="2377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334455"/>
                </a:solidFill>
                <a:latin typeface="Microsoft JhengHei"/>
              </a:rPr>
              <a:t>101 份讀完再設計；三套考題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78240" y="338328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42832" y="3493008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>
                <a:solidFill>
                  <a:srgbClr val="16304F"/>
                </a:solidFill>
                <a:latin typeface="Microsoft JhengHei"/>
              </a:rPr>
              <a:t>25%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42832" y="411480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>
                <a:solidFill>
                  <a:srgbClr val="16304F"/>
                </a:solidFill>
                <a:latin typeface="Microsoft JhengHei"/>
              </a:rPr>
              <a:t>主題契合度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42832" y="4462272"/>
            <a:ext cx="23774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50" b="0">
                <a:solidFill>
                  <a:srgbClr val="334455"/>
                </a:solidFill>
                <a:latin typeface="Microsoft JhengHei"/>
              </a:rPr>
              <a:t>四大功能對應；輔助不取代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" y="5623560"/>
            <a:ext cx="10908792" cy="566928"/>
          </a:xfrm>
          <a:prstGeom prst="rect">
            <a:avLst/>
          </a:prstGeom>
          <a:solidFill>
            <a:srgbClr val="FFF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0080" y="5623560"/>
            <a:ext cx="64008" cy="566928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5641848"/>
            <a:ext cx="106070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50" b="0">
                <a:solidFill>
                  <a:srgbClr val="334455"/>
                </a:solidFill>
                <a:latin typeface="Microsoft JhengHei"/>
              </a:rPr>
              <a:t>Live Demo　http://100.20.156.38/　— 所有畫面都是線上現跑的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1645920"/>
            <a:ext cx="5120640" cy="5120640"/>
          </a:xfrm>
          <a:prstGeom prst="ellipse">
            <a:avLst/>
          </a:prstGeom>
          <a:solidFill>
            <a:srgbClr val="1E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>
                <a:solidFill>
                  <a:srgbClr val="F2B544"/>
                </a:solidFill>
                <a:latin typeface="Microsoft JhengHei"/>
              </a:rPr>
              <a:t>2026 新北市 AI 智慧城市黑客松 ｜ 法制局組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Microsoft JhengHei"/>
              </a:rPr>
              <a:t>謝謝，請指教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100" b="0">
                <a:solidFill>
                  <a:srgbClr val="C9D6E6"/>
                </a:solidFill>
                <a:latin typeface="Microsoft JhengHei"/>
              </a:rPr>
              <a:t>接下來：補件、法規自動更新、洗錢與空污案型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480560"/>
            <a:ext cx="45720" cy="685800"/>
          </a:xfrm>
          <a:prstGeom prst="rect">
            <a:avLst/>
          </a:prstGeom>
          <a:solidFill>
            <a:srgbClr val="D98E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434840"/>
            <a:ext cx="91440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>
                <a:solidFill>
                  <a:srgbClr val="E6EDF5"/>
                </a:solidFill>
                <a:latin typeface="Microsoft JhengHei"/>
              </a:rPr>
              <a:t>Live Demo　http://100.20.156.38/　　GitHub　完整原始碼＋三套考題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